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2a76de974b4240" /><Relationship Type="http://schemas.openxmlformats.org/officeDocument/2006/relationships/extended-properties" Target="/docProps/app.xml" Id="R6cb47424449d454f" /><Relationship Type="http://schemas.openxmlformats.org/officeDocument/2006/relationships/officeDocument" Target="/ppt/presentation.xml" Id="R57f6a01ef05d4e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004c0b4db842c8"/>
  </p:sldMasterIdLst>
  <p:notesMasterIdLst>
    <p:notesMasterId xmlns:r="http://schemas.openxmlformats.org/officeDocument/2006/relationships" r:id="R0132cbd8359049c3"/>
  </p:notesMasterIdLst>
  <p:sldIdLst>
    <p:sldId xmlns:r="http://schemas.openxmlformats.org/officeDocument/2006/relationships" id="256" r:id="R1b7319f7ec724c18"/>
    <p:sldId xmlns:r="http://schemas.openxmlformats.org/officeDocument/2006/relationships" id="257" r:id="R1ca94461847a4c95"/>
    <p:sldId xmlns:r="http://schemas.openxmlformats.org/officeDocument/2006/relationships" id="258" r:id="Rabf3c9e11deb443b"/>
    <p:sldId xmlns:r="http://schemas.openxmlformats.org/officeDocument/2006/relationships" id="259" r:id="R38ffef75c0b0409e"/>
    <p:sldId xmlns:r="http://schemas.openxmlformats.org/officeDocument/2006/relationships" id="260" r:id="R2085826685544d38"/>
    <p:sldId xmlns:r="http://schemas.openxmlformats.org/officeDocument/2006/relationships" id="261" r:id="Rec3eee36727b4513"/>
    <p:sldId xmlns:r="http://schemas.openxmlformats.org/officeDocument/2006/relationships" id="262" r:id="Rea76c7b470f241ce"/>
    <p:sldId xmlns:r="http://schemas.openxmlformats.org/officeDocument/2006/relationships" id="263" r:id="Rcbe1b2e0f5c14da4"/>
    <p:sldId xmlns:r="http://schemas.openxmlformats.org/officeDocument/2006/relationships" id="264" r:id="R106bce76957249d2"/>
    <p:sldId xmlns:r="http://schemas.openxmlformats.org/officeDocument/2006/relationships" id="265" r:id="R5e1af0d819f749df"/>
    <p:sldId xmlns:r="http://schemas.openxmlformats.org/officeDocument/2006/relationships" id="266" r:id="R038b012611d24fe6"/>
    <p:sldId xmlns:r="http://schemas.openxmlformats.org/officeDocument/2006/relationships" id="267" r:id="R92e27bb0aee34a10"/>
    <p:sldId xmlns:r="http://schemas.openxmlformats.org/officeDocument/2006/relationships" id="268" r:id="R4574259688524a9f"/>
    <p:sldId xmlns:r="http://schemas.openxmlformats.org/officeDocument/2006/relationships" id="269" r:id="R2751d697553f4e98"/>
    <p:sldId xmlns:r="http://schemas.openxmlformats.org/officeDocument/2006/relationships" id="270" r:id="R418bbf7816af45b1"/>
    <p:sldId xmlns:r="http://schemas.openxmlformats.org/officeDocument/2006/relationships" id="271" r:id="R1a40fae8855344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c343cd4f814a77" /><Relationship Type="http://schemas.openxmlformats.org/officeDocument/2006/relationships/slideMaster" Target="/ppt/slideMasters/slideMaster1.xml" Id="Rcf004c0b4db842c8" /><Relationship Type="http://schemas.openxmlformats.org/officeDocument/2006/relationships/notesMaster" Target="/ppt/notesMasters/notesMaster1.xml" Id="R0132cbd8359049c3" /><Relationship Type="http://schemas.openxmlformats.org/officeDocument/2006/relationships/presProps" Target="/ppt/presProps.xml" Id="R311df01031954afc" /><Relationship Type="http://schemas.openxmlformats.org/officeDocument/2006/relationships/tableStyles" Target="/ppt/tableStyles.xml" Id="R8bd42445457c4c5f" /><Relationship Type="http://schemas.openxmlformats.org/officeDocument/2006/relationships/slide" Target="/ppt/slides/slide1.xml" Id="R1b7319f7ec724c18" /><Relationship Type="http://schemas.openxmlformats.org/officeDocument/2006/relationships/slide" Target="/ppt/slides/slide2.xml" Id="R1ca94461847a4c95" /><Relationship Type="http://schemas.openxmlformats.org/officeDocument/2006/relationships/slide" Target="/ppt/slides/slide3.xml" Id="Rabf3c9e11deb443b" /><Relationship Type="http://schemas.openxmlformats.org/officeDocument/2006/relationships/slide" Target="/ppt/slides/slide4.xml" Id="R38ffef75c0b0409e" /><Relationship Type="http://schemas.openxmlformats.org/officeDocument/2006/relationships/slide" Target="/ppt/slides/slide5.xml" Id="R2085826685544d38" /><Relationship Type="http://schemas.openxmlformats.org/officeDocument/2006/relationships/slide" Target="/ppt/slides/slide6.xml" Id="Rec3eee36727b4513" /><Relationship Type="http://schemas.openxmlformats.org/officeDocument/2006/relationships/slide" Target="/ppt/slides/slide7.xml" Id="Rea76c7b470f241ce" /><Relationship Type="http://schemas.openxmlformats.org/officeDocument/2006/relationships/slide" Target="/ppt/slides/slide8.xml" Id="Rcbe1b2e0f5c14da4" /><Relationship Type="http://schemas.openxmlformats.org/officeDocument/2006/relationships/slide" Target="/ppt/slides/slide9.xml" Id="R106bce76957249d2" /><Relationship Type="http://schemas.openxmlformats.org/officeDocument/2006/relationships/slide" Target="/ppt/slides/slide10.xml" Id="R5e1af0d819f749df" /><Relationship Type="http://schemas.openxmlformats.org/officeDocument/2006/relationships/slide" Target="/ppt/slides/slide11.xml" Id="R038b012611d24fe6" /><Relationship Type="http://schemas.openxmlformats.org/officeDocument/2006/relationships/slide" Target="/ppt/slides/slide12.xml" Id="R92e27bb0aee34a10" /><Relationship Type="http://schemas.openxmlformats.org/officeDocument/2006/relationships/slide" Target="/ppt/slides/slide13.xml" Id="R4574259688524a9f" /><Relationship Type="http://schemas.openxmlformats.org/officeDocument/2006/relationships/slide" Target="/ppt/slides/slide14.xml" Id="R2751d697553f4e98" /><Relationship Type="http://schemas.openxmlformats.org/officeDocument/2006/relationships/slide" Target="/ppt/slides/slide15.xml" Id="R418bbf7816af45b1" /><Relationship Type="http://schemas.openxmlformats.org/officeDocument/2006/relationships/slide" Target="/ppt/slides/slide16.xml" Id="R1a40fae8855344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2a9d008ffb4a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f61a23d1da4dfc" /><Relationship Type="http://schemas.openxmlformats.org/officeDocument/2006/relationships/notesMaster" Target="/ppt/notesMasters/notesMaster1.xml" Id="Rece9b440d3f14e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4b109f833a42c5" /><Relationship Type="http://schemas.openxmlformats.org/officeDocument/2006/relationships/notesMaster" Target="/ppt/notesMasters/notesMaster1.xml" Id="Rc9096a4dcf424d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21504df0a64b21" /><Relationship Type="http://schemas.openxmlformats.org/officeDocument/2006/relationships/notesMaster" Target="/ppt/notesMasters/notesMaster1.xml" Id="Rea007386900342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cd4dc2435a4a7d" /><Relationship Type="http://schemas.openxmlformats.org/officeDocument/2006/relationships/notesMaster" Target="/ppt/notesMasters/notesMaster1.xml" Id="R745030b7cfc74c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3b8e25c9f84a30" /><Relationship Type="http://schemas.openxmlformats.org/officeDocument/2006/relationships/notesMaster" Target="/ppt/notesMasters/notesMaster1.xml" Id="Rf310f281bdbb48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05d85e180643e2" /><Relationship Type="http://schemas.openxmlformats.org/officeDocument/2006/relationships/notesMaster" Target="/ppt/notesMasters/notesMaster1.xml" Id="R77baa2e73e634c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763c760d0d4057" /><Relationship Type="http://schemas.openxmlformats.org/officeDocument/2006/relationships/notesMaster" Target="/ppt/notesMasters/notesMaster1.xml" Id="R19c11039e30743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40e1b52463482e" /><Relationship Type="http://schemas.openxmlformats.org/officeDocument/2006/relationships/notesMaster" Target="/ppt/notesMasters/notesMaster1.xml" Id="R89684428351e44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95eab339de4c56" /><Relationship Type="http://schemas.openxmlformats.org/officeDocument/2006/relationships/notesMaster" Target="/ppt/notesMasters/notesMaster1.xml" Id="R75bc403e56b74b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e825f894eb4e03" /><Relationship Type="http://schemas.openxmlformats.org/officeDocument/2006/relationships/notesMaster" Target="/ppt/notesMasters/notesMaster1.xml" Id="Rf34c9b5d772b4e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cfdd1a68894c35" /><Relationship Type="http://schemas.openxmlformats.org/officeDocument/2006/relationships/notesMaster" Target="/ppt/notesMasters/notesMaster1.xml" Id="R02ba992afec341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7fcb5ea48b42db" /><Relationship Type="http://schemas.openxmlformats.org/officeDocument/2006/relationships/notesMaster" Target="/ppt/notesMasters/notesMaster1.xml" Id="Rd389d153e3454a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f1db637f6443a9" /><Relationship Type="http://schemas.openxmlformats.org/officeDocument/2006/relationships/notesMaster" Target="/ppt/notesMasters/notesMaster1.xml" Id="R6366457aa38544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e70d6e4e134889" /><Relationship Type="http://schemas.openxmlformats.org/officeDocument/2006/relationships/notesMaster" Target="/ppt/notesMasters/notesMaster1.xml" Id="Rbd5e28da0a104d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bddb6e297b40c0" /><Relationship Type="http://schemas.openxmlformats.org/officeDocument/2006/relationships/notesMaster" Target="/ppt/notesMasters/notesMaster1.xml" Id="Rc663c80730cb49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772102305e45ce" /><Relationship Type="http://schemas.openxmlformats.org/officeDocument/2006/relationships/notesMaster" Target="/ppt/notesMasters/notesMaster1.xml" Id="Rdaaaef00f6a848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TRANSURBAN é um projeto de aplicativo para apoiar quem utiliza ônibus em Maringá e Sarandi. Nossa apresentação mostra a experiência que queremos oferecer e a base técnica em que estamos trabalhando. O painel reúne oito telas conceituais. Os horários, nomes, notas e saldos servem para demonstrar a proposta.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problema central é a falta de previsibilidade para planejar a viagem. O passageiro precisa saber qual linha utilizar, quando o ônibus chega ao ponto e quanto tempo falta até o destino. Nossa proposta busca organizar essas informações. Não afirmamos que o aplicativo reduz congestionamentos ou atrasos, pois esses impactos ainda precisam de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experiência segue uma sequência simples. Primeiro o passageiro planeja o deslocamento. Depois consulta a linha e a posição demonstrativa do ônibus. Durante a viagem, acompanha o destino. Ao final, pode avaliar a experiência e informar a lotação. A carteira de passes é um recurso complementar.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Nesta tela apresentamos o acesso ao aplicativo. Passageiro e motorista precisam de experiências diferentes. O passageiro consulta e acompanha viagens. O motorista precisa identificar sua linha e iniciar a jornada. Na implementação, o backend deverá validar a identidade e as permissões, sem confiar apenas na escolha feita na tela.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Nesta etapa, o passageiro escolhe bairro, embarque e destino. Esses dados orientam a busca por linhas. O mapa ajuda a entender o percurso. A seleção da melhor opção ainda dependerá de regras de busca e dados de itinerário confiáveis. Os locais mostrados no esboço são ilustrativos.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tela do mapa concentra a consulta do ônibus e sua previsão de chegada. O exemplo de oito minutos é demonstrativo. Para rastrear veículos de verdade, precisamos receber localização com frequência, verificar dados antigos e calcular estimativas. O protótipo usa movimentação simulada.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tela detalha a linha, seus pontos e informações do veículo. Motorista, nota e horários são exemplos. A avaliação precisa ter regras de registro e consulta. A sequência de pontos desenhada é conceitual e não deve ser apresentada como itinerário oficial já confirmado.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Após embarcar, o usuário acompanha o tempo até seu destino e as paradas restantes. O exemplo de dezoito minutos é ilustrativo. Para avisar ao chegar, será necessário implementar notificações e verificar a posição durante a jornada. Encerrar a viagem significa finalizar o acompanhamento no aplicativo.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tela representa a proposta de carteira. Saldo, quantidade e formas de pagamento são demonstrativos. A versão conceitual não vende passes válidos. Para operar, precisamos integrar pagamento e bilhetagem, conferir a confirmação do pagamento e registrar o crédito e o histórico de transações.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passageiro pode registrar sua percepção da viagem e a lotação. Essa informação é colaborativa, sujeita ao momento e à percepção de quem relata. A futura implementação precisa relacionar a avaliação à viagem, registrar data e horário e definir regras de uso e moderação.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área do motorista organiza a jornada, a linha e o veículo. Iniciar a viagem deverá habilitar o envio de posições autorizado. Finalizar deverá encerrar a jornada. Precisamos testar continuidade de atualização e permissões de localização, além de restringir o acesso aos dados conforme o perfil.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aplicativo é a interface utilizada pelo passageiro e motorista. O backend recebe requisições e devolve respostas, normalmente em JSON. Na atividade de DS trabalhamos com banco relacional no Supabase e cadastros e consultas. Na atividade de IA, a fonte é um CSV desnormalizado analisado com Pandas. Esses fluxos acadêmicos têm fontes distintas. Integrá-los à interface do aplicativo é uma próxima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modelo acadêmico contém cidade, linha_onibus, trecho, linha_trecho, faixa_exclusiva e registro_atraso. A chave primária identifica um registro. A chave estrangeira liga uma tabela a outra, por exemplo id_cidade em linha_onibus. A análise utiliza registros de tempos programados e reais para calcular atrasos. Não apresentamos estatísticas como resultados atuais sem conferir a base usada na demonstração. Também não apresentamos uma previsão por inteligência artificial como já treinada ou validada.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É essencial explicar o estágio do projeto. A equipe trabalha na base acadêmica de dados e backend. As telas apresentadas são um esboço conceitual da experiência. Só devemos afirmar que um endpoint funciona quando temos o teste correspondente. GPS real, previsão validada e recarga oficial são integrações futuras. A apresentação não substitui uma demonstração do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próximo passo é conectar interface e backend e testar os fluxos principais. Depois devemos avaliar a usabilidade com passageiros. Quando houver localização real, vamos medir frequência das atualizações e comparar os tempos previstos com os observados. A recarga exige confirmação de pagamento, crédito e histórico consistente, em conjunto com os responsáveis pela bilhetagem. Não há data de lançamento confirmada.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projeto reúne Kauan Celso, Bruno Miguel e José Henrique, com orientação do professor Giuliano Alencar, no CEEP Maringá. Jullyany atua na organização, Camila na mídia e Ana Carolina no credenciamento do evento. Nosso propósito é facilitar o planejamento e o acompanhamento das viagens. A base acadêmica permite demonstrar os dados, enquanto o esboço mostra a experiência que queremos construir.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TRANSURBAN_Resumo_Expandido.docx (versão 5, 30/09/2026), requisitos e relatos de backend da equipe em outubro de 2026. Imagens: Painel conceitual do app TRANSURBAN.png (14/10/2026). Telas conceituais com dados ilustrativos. Funcionalidades reais dependem de implementação, integração e testes.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1b5546a9f4f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bad2973c74b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76c36a6bb42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8b4e281f24b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99c44d8814e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5d25f7c3e4c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A47322-2019-4598-9AA7-F1226770CC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B97202-515B-4772-89DF-311D08CF0E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B59D9E-65AF-444C-A7AC-8DD432953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6D8111-0027-4D7B-BE69-1B7687926D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BF2B54-97E9-4688-A668-9E2DCE2862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E8F300-07DA-4B67-AF9A-66C8679F4A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4FFE97-58FB-4F94-91DF-6DDC125FD6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E837C5-C810-4ACD-9561-C8CC9C6FF2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9E4856-BDEB-4C21-B78F-1109BE098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25FC62-6298-4705-B6FC-FBAB223E65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fbb6a77ea74ba4" /><Relationship Type="http://schemas.openxmlformats.org/officeDocument/2006/relationships/slideLayout" Target="/ppt/slideLayouts/slideLayout1.xml" Id="R7e640f71882745f4" /><Relationship Type="http://schemas.openxmlformats.org/officeDocument/2006/relationships/slideLayout" Target="/ppt/slideLayouts/slideLayout2.xml" Id="Ra7f4ee00e3e142c2" /><Relationship Type="http://schemas.openxmlformats.org/officeDocument/2006/relationships/slideLayout" Target="/ppt/slideLayouts/slideLayout3.xml" Id="R3a2e7bc600a8408b" /><Relationship Type="http://schemas.openxmlformats.org/officeDocument/2006/relationships/slideLayout" Target="/ppt/slideLayouts/slideLayout4.xml" Id="R98ff8d8fec8a41cc" /><Relationship Type="http://schemas.openxmlformats.org/officeDocument/2006/relationships/slideLayout" Target="/ppt/slideLayouts/slideLayout5.xml" Id="R132a56af26ca4b22" /><Relationship Type="http://schemas.openxmlformats.org/officeDocument/2006/relationships/slideLayout" Target="/ppt/slideLayouts/slideLayout6.xml" Id="R5afc71ab584944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640f71882745f4"/>
    <p:sldLayoutId xmlns:r="http://schemas.openxmlformats.org/officeDocument/2006/relationships" id="2147483650" r:id="Ra7f4ee00e3e142c2"/>
    <p:sldLayoutId xmlns:r="http://schemas.openxmlformats.org/officeDocument/2006/relationships" id="2147483651" r:id="R3a2e7bc600a8408b"/>
    <p:sldLayoutId xmlns:r="http://schemas.openxmlformats.org/officeDocument/2006/relationships" id="2147483652" r:id="R98ff8d8fec8a41cc"/>
    <p:sldLayoutId xmlns:r="http://schemas.openxmlformats.org/officeDocument/2006/relationships" id="2147483653" r:id="R132a56af26ca4b22"/>
    <p:sldLayoutId xmlns:r="http://schemas.openxmlformats.org/officeDocument/2006/relationships" id="2147483654" r:id="R5afc71ab584944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dc810a92644df" /><Relationship Type="http://schemas.openxmlformats.org/officeDocument/2006/relationships/image" Target="/ppt/media/image.png" Id="Ref7a9c33aec149e1" /><Relationship Type="http://schemas.openxmlformats.org/officeDocument/2006/relationships/notesSlide" Target="/ppt/notesSlides/notesSlide1.xml" Id="R26281918c7ed44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1191f16fb4f15" /><Relationship Type="http://schemas.openxmlformats.org/officeDocument/2006/relationships/notesSlide" Target="/ppt/notesSlides/notesSlide2.xml" Id="R07d34677c9934e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ce8bc52d88490d" /><Relationship Type="http://schemas.openxmlformats.org/officeDocument/2006/relationships/notesSlide" Target="/ppt/notesSlides/notesSlide3.xml" Id="Rf57516c183b74a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19e63102746df" /><Relationship Type="http://schemas.openxmlformats.org/officeDocument/2006/relationships/image" Target="/ppt/media/image2.png" Id="R018d43a53b30405b" /><Relationship Type="http://schemas.openxmlformats.org/officeDocument/2006/relationships/notesSlide" Target="/ppt/notesSlides/notesSlide4.xml" Id="Ree3ccc7b5db14e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9bb6701d6f4e6a" /><Relationship Type="http://schemas.openxmlformats.org/officeDocument/2006/relationships/image" Target="/ppt/media/image3.png" Id="Ra65892aa5fef4dfb" /><Relationship Type="http://schemas.openxmlformats.org/officeDocument/2006/relationships/notesSlide" Target="/ppt/notesSlides/notesSlide5.xml" Id="Re7a919de6c2547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5a179a1c34b66" /><Relationship Type="http://schemas.openxmlformats.org/officeDocument/2006/relationships/image" Target="/ppt/media/image4.png" Id="R1371d7ea5c1f44af" /><Relationship Type="http://schemas.openxmlformats.org/officeDocument/2006/relationships/notesSlide" Target="/ppt/notesSlides/notesSlide6.xml" Id="Ra8b5ed7cb2004d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8040069fbc4504" /><Relationship Type="http://schemas.openxmlformats.org/officeDocument/2006/relationships/image" Target="/ppt/media/image5.png" Id="R85b2e71db6c94ec4" /><Relationship Type="http://schemas.openxmlformats.org/officeDocument/2006/relationships/notesSlide" Target="/ppt/notesSlides/notesSlide7.xml" Id="R1858f3ae72d540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cf9df8d874282" /><Relationship Type="http://schemas.openxmlformats.org/officeDocument/2006/relationships/image" Target="/ppt/media/image6.png" Id="Ra8f594c6ed304eb1" /><Relationship Type="http://schemas.openxmlformats.org/officeDocument/2006/relationships/notesSlide" Target="/ppt/notesSlides/notesSlide8.xml" Id="R8241d7574e2049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fa2d33d7e488c" /><Relationship Type="http://schemas.openxmlformats.org/officeDocument/2006/relationships/image" Target="/ppt/media/image7.png" Id="Ra4469bd62e3a4634" /><Relationship Type="http://schemas.openxmlformats.org/officeDocument/2006/relationships/notesSlide" Target="/ppt/notesSlides/notesSlide9.xml" Id="Rad85cb28103e4c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c8830077f43d7" /><Relationship Type="http://schemas.openxmlformats.org/officeDocument/2006/relationships/image" Target="/ppt/media/image8.png" Id="R848903683fd84717" /><Relationship Type="http://schemas.openxmlformats.org/officeDocument/2006/relationships/notesSlide" Target="/ppt/notesSlides/notesSlide10.xml" Id="R683421aa61e143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2ea7f0e2d4f5e" /><Relationship Type="http://schemas.openxmlformats.org/officeDocument/2006/relationships/image" Target="/ppt/media/image9.png" Id="Rfa67c5d12cc44672" /><Relationship Type="http://schemas.openxmlformats.org/officeDocument/2006/relationships/notesSlide" Target="/ppt/notesSlides/notesSlide11.xml" Id="Rc791c3ea8fbe42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2efb0ddee7482f" /><Relationship Type="http://schemas.openxmlformats.org/officeDocument/2006/relationships/notesSlide" Target="/ppt/notesSlides/notesSlide12.xml" Id="Rbe18417dc48948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f173b02274cfa" /><Relationship Type="http://schemas.openxmlformats.org/officeDocument/2006/relationships/notesSlide" Target="/ppt/notesSlides/notesSlide13.xml" Id="R0472945475c045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b28e682024a29" /><Relationship Type="http://schemas.openxmlformats.org/officeDocument/2006/relationships/notesSlide" Target="/ppt/notesSlides/notesSlide14.xml" Id="R358265adf3124d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e62bd45d924a3c" /><Relationship Type="http://schemas.openxmlformats.org/officeDocument/2006/relationships/notesSlide" Target="/ppt/notesSlides/notesSlide15.xml" Id="Rf227e1d56b4d4b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d2029479e5469e" /><Relationship Type="http://schemas.openxmlformats.org/officeDocument/2006/relationships/notesSlide" Target="/ppt/notesSlides/notesSlide16.xml" Id="R73e1e51bf19748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-0">
            <a:extLst xmlns:a="http://schemas.openxmlformats.org/drawingml/2006/main">
              <a:ext uri="{FF2B5EF4-FFF2-40B4-BE49-F238E27FC236}">
                <a16:creationId xmlns:a16="http://schemas.microsoft.com/office/drawing/2014/main" id="{32EDB3C4-A629-48D5-B316-B284C0A1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B8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8D1EB671-0454-40E0-B249-642A9B8F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AF12B0F9-9F6F-4A13-83FC-7996C040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7319C325-6A2E-49E3-BDF3-484D0D10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000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Planejamento e acompanhamento</a:t>
            </a:r>
          </a:p>
          <a:p xmlns:a="http://schemas.openxmlformats.org/drawingml/2006/main">
            <a:pPr>
              <a:defRPr sz="28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de viagens de ônibus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AA0EA419-DC98-45E4-A22B-083DF86D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Maringá e Sarandi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7EFB49C2-49D2-443B-A8B9-DC0C7F0A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Projeto Integrador de DS e IA</a:t>
            </a:r>
          </a:p>
          <a:p xmlns:a="http://schemas.openxmlformats.org/drawingml/2006/main">
            <a:pPr>
              <a:defRPr sz="180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CEEP Maringá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B8F90-1E61-4600-BCDE-4B942EA20B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a9c33aec149e1"/>
          <a:stretch xmlns:a="http://schemas.openxmlformats.org/drawingml/2006/main"/>
        </p:blipFill>
        <p:spPr>
          <a:xfrm xmlns:a="http://schemas.openxmlformats.org/drawingml/2006/main">
            <a:off x="5991225" y="1206500"/>
            <a:ext cx="5610225" cy="3740150"/>
          </a:xfrm>
          <a:prstGeom xmlns:a="http://schemas.openxmlformats.org/drawingml/2006/main" prst="rect">
            <a:avLst/>
          </a:prstGeom>
        </p:spPr>
      </p:pic>
      <p:sp>
        <p:nvSpPr>
          <p:cNvPr id="8" name="texto-6">
            <a:extLst xmlns:a="http://schemas.openxmlformats.org/drawingml/2006/main">
              <a:ext uri="{FF2B5EF4-FFF2-40B4-BE49-F238E27FC236}">
                <a16:creationId xmlns:a16="http://schemas.microsoft.com/office/drawing/2014/main" id="{FFA11EE0-6662-4097-9EDE-391661C2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76850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Telas conceituais com dados ilustrativos</a:t>
            </a:r>
          </a:p>
        </p:txBody>
      </p:sp>
    </p:spTree>
    <p:extLst>
      <p:ext uri="{BB962C8B-B14F-4D97-AF65-F5344CB8AC3E}">
        <p14:creationId xmlns:p14="http://schemas.microsoft.com/office/powerpoint/2010/main" val="855577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2C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o-0">
            <a:extLst xmlns:a="http://schemas.openxmlformats.org/drawingml/2006/main">
              <a:ext uri="{FF2B5EF4-FFF2-40B4-BE49-F238E27FC236}">
                <a16:creationId xmlns:a16="http://schemas.microsoft.com/office/drawing/2014/main" id="{A025A6F2-A8C1-4BB4-861A-E0983271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problema do passageiro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1B7B22CE-8DD6-4AC6-AF6A-C86A12A7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5E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75E0C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E0CE"/>
                </a:solidFill>
                <a:latin typeface="Arial"/>
                <a:ea typeface="Arial"/>
                <a:cs typeface="Arial"/>
              </a:rPr>
              <a:t>A viagem começa com dúvidas sobre a linha e o tempo de espera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A38324C5-48EE-447D-BF1E-92EC74C8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96B3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96B3C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6B3CB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A21EC234-4B32-484F-AB72-D84E0AC3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6B3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6B3C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6B3C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A126709F-C898-445A-8226-283A32AF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429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Quando o ônibus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vai chegar?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F8F23D6C-9352-4F65-9EE2-8A844766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EE0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EE0E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EE0EC"/>
                </a:solidFill>
                <a:latin typeface="Arial"/>
                <a:ea typeface="Arial"/>
                <a:cs typeface="Arial"/>
              </a:rPr>
              <a:t>A incerteza dificulta a organização</a:t>
            </a:r>
          </a:p>
          <a:p xmlns:a="http://schemas.openxmlformats.org/drawingml/2006/main">
            <a:pPr>
              <a:defRPr sz="2100" b="0">
                <a:solidFill>
                  <a:srgbClr val="CEE0E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EE0EC"/>
                </a:solidFill>
                <a:latin typeface="Arial"/>
                <a:ea typeface="Arial"/>
                <a:cs typeface="Arial"/>
              </a:rPr>
              <a:t>dos deslocamentos do dia a dia.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3FBB1295-438D-467C-B2BF-D6AFF49B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9850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5E0CE"/>
                </a:solidFill>
                <a:latin typeface="Arial"/>
                <a:ea typeface="Arial"/>
                <a:cs typeface="Arial"/>
              </a:rPr>
              <a:t>Antes de embarcar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89E50A94-E2DF-4039-879D-37DF1AD4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4238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Escolher a linha e consultar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chegada ao ponto.</a:t>
            </a:r>
          </a:p>
        </p:txBody>
      </p:sp>
      <p:sp>
        <p:nvSpPr>
          <p:cNvPr id="9" name="texto-8">
            <a:extLst xmlns:a="http://schemas.openxmlformats.org/drawingml/2006/main">
              <a:ext uri="{FF2B5EF4-FFF2-40B4-BE49-F238E27FC236}">
                <a16:creationId xmlns:a16="http://schemas.microsoft.com/office/drawing/2014/main" id="{E794CF21-02F5-4994-A1B2-DDD55618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76725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5E0CE"/>
                </a:solidFill>
                <a:latin typeface="Arial"/>
                <a:ea typeface="Arial"/>
                <a:cs typeface="Arial"/>
              </a:rPr>
              <a:t>Durante a viagem</a:t>
            </a:r>
          </a:p>
        </p:txBody>
      </p:sp>
      <p:sp>
        <p:nvSpPr>
          <p:cNvPr id="10" name="texto-9">
            <a:extLst xmlns:a="http://schemas.openxmlformats.org/drawingml/2006/main">
              <a:ext uri="{FF2B5EF4-FFF2-40B4-BE49-F238E27FC236}">
                <a16:creationId xmlns:a16="http://schemas.microsoft.com/office/drawing/2014/main" id="{260DE733-883B-40D2-A392-2CA0B1DE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10125"/>
            <a:ext cx="4238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Consultar o trajeto e o tempo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restante até o destino.</a:t>
            </a:r>
          </a:p>
        </p:txBody>
      </p:sp>
    </p:spTree>
    <p:extLst>
      <p:ext uri="{BB962C8B-B14F-4D97-AF65-F5344CB8AC3E}">
        <p14:creationId xmlns:p14="http://schemas.microsoft.com/office/powerpoint/2010/main" val="20912633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o-0">
            <a:extLst xmlns:a="http://schemas.openxmlformats.org/drawingml/2006/main">
              <a:ext uri="{FF2B5EF4-FFF2-40B4-BE49-F238E27FC236}">
                <a16:creationId xmlns:a16="http://schemas.microsoft.com/office/drawing/2014/main" id="{AD00A0AD-DE20-43F6-BB70-4A095FAE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A jornada que queremos oferecer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5D1F64C7-35F8-4A05-858D-348423D8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O aplicativo acompanha o passageiro antes, durante e depois do embarque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00D902A7-591E-4F7D-B594-050D8EB5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B8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21F31684-238F-4747-9BD7-A0B9A3F8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DE1318AF-2E75-47E6-9BC1-24E7812F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78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02B13796-C6B6-486D-A1EC-A6AA9BF3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24100"/>
            <a:ext cx="290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Planejar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E7423F8E-53A3-46A8-8187-0DA16F8D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24100"/>
            <a:ext cx="6115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Informar bairro, ponto de</a:t>
            </a:r>
          </a:p>
          <a:p xmlns:a="http://schemas.openxmlformats.org/drawingml/2006/main">
            <a:pPr>
              <a:defRPr sz="20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embarque e destino.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DFCE0A06-D5EB-4192-ACB7-7FC2217F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78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o-8">
            <a:extLst xmlns:a="http://schemas.openxmlformats.org/drawingml/2006/main">
              <a:ext uri="{FF2B5EF4-FFF2-40B4-BE49-F238E27FC236}">
                <a16:creationId xmlns:a16="http://schemas.microsoft.com/office/drawing/2014/main" id="{5BF8CF9E-2FB7-428A-9D09-7E0EA99D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19450"/>
            <a:ext cx="290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Acompanhar</a:t>
            </a:r>
          </a:p>
        </p:txBody>
      </p:sp>
      <p:sp>
        <p:nvSpPr>
          <p:cNvPr id="10" name="texto-9">
            <a:extLst xmlns:a="http://schemas.openxmlformats.org/drawingml/2006/main">
              <a:ext uri="{FF2B5EF4-FFF2-40B4-BE49-F238E27FC236}">
                <a16:creationId xmlns:a16="http://schemas.microsoft.com/office/drawing/2014/main" id="{6496F01A-FC51-4AFA-AF13-08F003CF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19450"/>
            <a:ext cx="6115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Consultar ônibus no mapa</a:t>
            </a:r>
          </a:p>
          <a:p xmlns:a="http://schemas.openxmlformats.org/drawingml/2006/main">
            <a:pPr>
              <a:defRPr sz="20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e detalhes da linha.</a:t>
            </a:r>
          </a:p>
        </p:txBody>
      </p:sp>
      <p:sp>
        <p:nvSpPr>
          <p:cNvPr id="11" name="texto-10">
            <a:extLst xmlns:a="http://schemas.openxmlformats.org/drawingml/2006/main">
              <a:ext uri="{FF2B5EF4-FFF2-40B4-BE49-F238E27FC236}">
                <a16:creationId xmlns:a16="http://schemas.microsoft.com/office/drawing/2014/main" id="{616E6F27-2EE4-4BC5-81F4-CE7A8EB9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78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o-11">
            <a:extLst xmlns:a="http://schemas.openxmlformats.org/drawingml/2006/main">
              <a:ext uri="{FF2B5EF4-FFF2-40B4-BE49-F238E27FC236}">
                <a16:creationId xmlns:a16="http://schemas.microsoft.com/office/drawing/2014/main" id="{1C12FADD-F2AD-4E2F-90A0-A3D65CBB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14800"/>
            <a:ext cx="290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Viajar</a:t>
            </a:r>
          </a:p>
        </p:txBody>
      </p:sp>
      <p:sp>
        <p:nvSpPr>
          <p:cNvPr id="13" name="texto-12">
            <a:extLst xmlns:a="http://schemas.openxmlformats.org/drawingml/2006/main">
              <a:ext uri="{FF2B5EF4-FFF2-40B4-BE49-F238E27FC236}">
                <a16:creationId xmlns:a16="http://schemas.microsoft.com/office/drawing/2014/main" id="{7E46BBCB-2E83-4730-94AB-25CC6259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14800"/>
            <a:ext cx="6115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Ver o tempo restante</a:t>
            </a:r>
          </a:p>
          <a:p xmlns:a="http://schemas.openxmlformats.org/drawingml/2006/main">
            <a:pPr>
              <a:defRPr sz="20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até o ponto escolhido.</a:t>
            </a:r>
          </a:p>
        </p:txBody>
      </p:sp>
      <p:sp>
        <p:nvSpPr>
          <p:cNvPr id="14" name="texto-13">
            <a:extLst xmlns:a="http://schemas.openxmlformats.org/drawingml/2006/main">
              <a:ext uri="{FF2B5EF4-FFF2-40B4-BE49-F238E27FC236}">
                <a16:creationId xmlns:a16="http://schemas.microsoft.com/office/drawing/2014/main" id="{EC861E40-F1F2-4634-B004-6072C098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78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texto-14">
            <a:extLst xmlns:a="http://schemas.openxmlformats.org/drawingml/2006/main">
              <a:ext uri="{FF2B5EF4-FFF2-40B4-BE49-F238E27FC236}">
                <a16:creationId xmlns:a16="http://schemas.microsoft.com/office/drawing/2014/main" id="{F12C9C09-E0CF-4F55-B873-125D9FC0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10150"/>
            <a:ext cx="290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Participar</a:t>
            </a:r>
          </a:p>
        </p:txBody>
      </p:sp>
      <p:sp>
        <p:nvSpPr>
          <p:cNvPr id="16" name="texto-15">
            <a:extLst xmlns:a="http://schemas.openxmlformats.org/drawingml/2006/main">
              <a:ext uri="{FF2B5EF4-FFF2-40B4-BE49-F238E27FC236}">
                <a16:creationId xmlns:a16="http://schemas.microsoft.com/office/drawing/2014/main" id="{6D76B2FB-9239-495C-B4EE-48D729C0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10150"/>
            <a:ext cx="6115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Avaliar a experiência e</a:t>
            </a:r>
          </a:p>
          <a:p xmlns:a="http://schemas.openxmlformats.org/drawingml/2006/main">
            <a:pPr>
              <a:defRPr sz="202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informar a lotação.</a:t>
            </a:r>
          </a:p>
        </p:txBody>
      </p:sp>
    </p:spTree>
    <p:extLst>
      <p:ext uri="{BB962C8B-B14F-4D97-AF65-F5344CB8AC3E}">
        <p14:creationId xmlns:p14="http://schemas.microsoft.com/office/powerpoint/2010/main" val="26955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0">
            <a:extLst xmlns:a="http://schemas.openxmlformats.org/drawingml/2006/main">
              <a:ext uri="{FF2B5EF4-FFF2-40B4-BE49-F238E27FC236}">
                <a16:creationId xmlns:a16="http://schemas.microsoft.com/office/drawing/2014/main" id="{853DFE98-741A-41D6-B6CA-781F7743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Acesso ao aplicativo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116D17DE-DC57-4CAE-954D-55BB5036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Entrada de passageiros e motoristas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BF4EDB9A-E38E-437B-82A4-5D82956B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B8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BC4535BA-83FD-4D79-BA0B-8D6C4197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1E13D-8037-4307-AD6B-42CA3298E1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d43a53b30405b"/>
          <a:stretch xmlns:a="http://schemas.openxmlformats.org/drawingml/2006/main"/>
        </p:blipFill>
        <p:spPr>
          <a:xfrm xmlns:a="http://schemas.openxmlformats.org/drawingml/2006/main">
            <a:off x="1054981" y="2133600"/>
            <a:ext cx="2366788" cy="3848100"/>
          </a:xfrm>
          <a:prstGeom xmlns:a="http://schemas.openxmlformats.org/drawingml/2006/main" prst="rect">
            <a:avLst/>
          </a:prstGeom>
        </p:spPr>
      </p:pic>
      <p:sp>
        <p:nvSpPr>
          <p:cNvPr id="6" name="texto-4">
            <a:extLst xmlns:a="http://schemas.openxmlformats.org/drawingml/2006/main">
              <a:ext uri="{FF2B5EF4-FFF2-40B4-BE49-F238E27FC236}">
                <a16:creationId xmlns:a16="http://schemas.microsoft.com/office/drawing/2014/main" id="{30666316-E2D4-45AD-B1E1-BCC69BCC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Escolha do perfil</a:t>
            </a:r>
          </a:p>
        </p:txBody>
      </p:sp>
      <p:sp>
        <p:nvSpPr>
          <p:cNvPr id="7" name="texto-5">
            <a:extLst xmlns:a="http://schemas.openxmlformats.org/drawingml/2006/main">
              <a:ext uri="{FF2B5EF4-FFF2-40B4-BE49-F238E27FC236}">
                <a16:creationId xmlns:a16="http://schemas.microsoft.com/office/drawing/2014/main" id="{D37098A4-1E06-4D7E-979F-5473396A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A tela separa os acessos de passageiro e motorista.</a:t>
            </a:r>
          </a:p>
        </p:txBody>
      </p:sp>
      <p:sp>
        <p:nvSpPr>
          <p:cNvPr id="8" name="texto-6">
            <a:extLst xmlns:a="http://schemas.openxmlformats.org/drawingml/2006/main">
              <a:ext uri="{FF2B5EF4-FFF2-40B4-BE49-F238E27FC236}">
                <a16:creationId xmlns:a16="http://schemas.microsoft.com/office/drawing/2014/main" id="{75D5BD78-CB77-419A-BBA3-236A8919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95675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Identificação do usuário</a:t>
            </a:r>
          </a:p>
        </p:txBody>
      </p:sp>
      <p:sp>
        <p:nvSpPr>
          <p:cNvPr id="9" name="texto-7">
            <a:extLst xmlns:a="http://schemas.openxmlformats.org/drawingml/2006/main">
              <a:ext uri="{FF2B5EF4-FFF2-40B4-BE49-F238E27FC236}">
                <a16:creationId xmlns:a16="http://schemas.microsoft.com/office/drawing/2014/main" id="{D4629101-2C6E-48F9-83C5-460815A8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14775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E-mail e senha permitem entrar. Quem ainda não tem conta pode iniciar o cadastro.</a:t>
            </a:r>
          </a:p>
        </p:txBody>
      </p:sp>
      <p:sp>
        <p:nvSpPr>
          <p:cNvPr id="10" name="texto-8">
            <a:extLst xmlns:a="http://schemas.openxmlformats.org/drawingml/2006/main">
              <a:ext uri="{FF2B5EF4-FFF2-40B4-BE49-F238E27FC236}">
                <a16:creationId xmlns:a16="http://schemas.microsoft.com/office/drawing/2014/main" id="{8E7528F7-3073-49FA-8881-DED41659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8630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Papel no sistema</a:t>
            </a:r>
          </a:p>
        </p:txBody>
      </p:sp>
      <p:sp>
        <p:nvSpPr>
          <p:cNvPr id="11" name="texto-9">
            <a:extLst xmlns:a="http://schemas.openxmlformats.org/drawingml/2006/main">
              <a:ext uri="{FF2B5EF4-FFF2-40B4-BE49-F238E27FC236}">
                <a16:creationId xmlns:a16="http://schemas.microsoft.com/office/drawing/2014/main" id="{9A888270-F91D-4815-A8D2-813B7E40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0540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O perfil deverá determinar as informações e ações disponíveis.</a:t>
            </a:r>
          </a:p>
        </p:txBody>
      </p:sp>
      <p:sp>
        <p:nvSpPr>
          <p:cNvPr id="12" name="texto-10">
            <a:extLst xmlns:a="http://schemas.openxmlformats.org/drawingml/2006/main">
              <a:ext uri="{FF2B5EF4-FFF2-40B4-BE49-F238E27FC236}">
                <a16:creationId xmlns:a16="http://schemas.microsoft.com/office/drawing/2014/main" id="{987966FB-8E0F-42ED-BD98-AC77111A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81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Esboço conceitual. Dados ilustrativos.</a:t>
            </a:r>
          </a:p>
        </p:txBody>
      </p:sp>
    </p:spTree>
    <p:extLst>
      <p:ext uri="{BB962C8B-B14F-4D97-AF65-F5344CB8AC3E}">
        <p14:creationId xmlns:p14="http://schemas.microsoft.com/office/powerpoint/2010/main" val="1613258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0">
            <a:extLst xmlns:a="http://schemas.openxmlformats.org/drawingml/2006/main">
              <a:ext uri="{FF2B5EF4-FFF2-40B4-BE49-F238E27FC236}">
                <a16:creationId xmlns:a16="http://schemas.microsoft.com/office/drawing/2014/main" id="{5E0ECD84-FABF-4D9F-A55E-411810D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Planejar a viagem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DBD75867-D07C-4CF0-8FCE-AC3DAD05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O passageiro informa de onde sai e aonde quer chegar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900C29F7-B2AB-4664-9681-E02F7262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B8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91EAD11B-AEEE-4FB1-BBC3-9587845A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2B63D-FE25-4CCA-863C-E3A85F80AF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892aa5fef4dfb"/>
          <a:stretch xmlns:a="http://schemas.openxmlformats.org/drawingml/2006/main"/>
        </p:blipFill>
        <p:spPr>
          <a:xfrm xmlns:a="http://schemas.openxmlformats.org/drawingml/2006/main">
            <a:off x="980501" y="2133600"/>
            <a:ext cx="2515747" cy="3848100"/>
          </a:xfrm>
          <a:prstGeom xmlns:a="http://schemas.openxmlformats.org/drawingml/2006/main" prst="rect">
            <a:avLst/>
          </a:prstGeom>
        </p:spPr>
      </p:pic>
      <p:sp>
        <p:nvSpPr>
          <p:cNvPr id="6" name="texto-4">
            <a:extLst xmlns:a="http://schemas.openxmlformats.org/drawingml/2006/main">
              <a:ext uri="{FF2B5EF4-FFF2-40B4-BE49-F238E27FC236}">
                <a16:creationId xmlns:a16="http://schemas.microsoft.com/office/drawing/2014/main" id="{4B25CECC-0E84-449F-8DD3-212DAB8A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Dados da busca</a:t>
            </a:r>
          </a:p>
        </p:txBody>
      </p:sp>
      <p:sp>
        <p:nvSpPr>
          <p:cNvPr id="7" name="texto-5">
            <a:extLst xmlns:a="http://schemas.openxmlformats.org/drawingml/2006/main">
              <a:ext uri="{FF2B5EF4-FFF2-40B4-BE49-F238E27FC236}">
                <a16:creationId xmlns:a16="http://schemas.microsoft.com/office/drawing/2014/main" id="{A7A3CD01-5B5A-42AC-93BE-557EF913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Bairro, ponto de embarque e destino orientam a consulta de linhas.</a:t>
            </a:r>
          </a:p>
        </p:txBody>
      </p:sp>
      <p:sp>
        <p:nvSpPr>
          <p:cNvPr id="8" name="texto-6">
            <a:extLst xmlns:a="http://schemas.openxmlformats.org/drawingml/2006/main">
              <a:ext uri="{FF2B5EF4-FFF2-40B4-BE49-F238E27FC236}">
                <a16:creationId xmlns:a16="http://schemas.microsoft.com/office/drawing/2014/main" id="{428AEF47-FFC3-41B3-BD33-5A3EA087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95675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Resultado esperado</a:t>
            </a:r>
          </a:p>
        </p:txBody>
      </p:sp>
      <p:sp>
        <p:nvSpPr>
          <p:cNvPr id="9" name="texto-7">
            <a:extLst xmlns:a="http://schemas.openxmlformats.org/drawingml/2006/main">
              <a:ext uri="{FF2B5EF4-FFF2-40B4-BE49-F238E27FC236}">
                <a16:creationId xmlns:a16="http://schemas.microsoft.com/office/drawing/2014/main" id="{01307F9B-9CC7-4CE4-8B19-17E18FA0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14775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O aplicativo deverá apresentar opções de trajeto adequadas à busca.</a:t>
            </a:r>
          </a:p>
        </p:txBody>
      </p:sp>
      <p:sp>
        <p:nvSpPr>
          <p:cNvPr id="10" name="texto-8">
            <a:extLst xmlns:a="http://schemas.openxmlformats.org/drawingml/2006/main">
              <a:ext uri="{FF2B5EF4-FFF2-40B4-BE49-F238E27FC236}">
                <a16:creationId xmlns:a16="http://schemas.microsoft.com/office/drawing/2014/main" id="{8230B965-8CF0-4533-ADB5-A00268F8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8630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Benefício para o usuário</a:t>
            </a:r>
          </a:p>
        </p:txBody>
      </p:sp>
      <p:sp>
        <p:nvSpPr>
          <p:cNvPr id="11" name="texto-9">
            <a:extLst xmlns:a="http://schemas.openxmlformats.org/drawingml/2006/main">
              <a:ext uri="{FF2B5EF4-FFF2-40B4-BE49-F238E27FC236}">
                <a16:creationId xmlns:a16="http://schemas.microsoft.com/office/drawing/2014/main" id="{B25BB551-CB0A-4B30-BA52-69DD9672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0540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Organizar a viagem antes de ir ao ponto de ônibus.</a:t>
            </a:r>
          </a:p>
        </p:txBody>
      </p:sp>
      <p:sp>
        <p:nvSpPr>
          <p:cNvPr id="12" name="texto-10">
            <a:extLst xmlns:a="http://schemas.openxmlformats.org/drawingml/2006/main">
              <a:ext uri="{FF2B5EF4-FFF2-40B4-BE49-F238E27FC236}">
                <a16:creationId xmlns:a16="http://schemas.microsoft.com/office/drawing/2014/main" id="{87731CC0-476D-474A-A3DA-CEDDC0C9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81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Esboço conceitual. Dados ilustrativos.</a:t>
            </a:r>
          </a:p>
        </p:txBody>
      </p:sp>
    </p:spTree>
    <p:extLst>
      <p:ext uri="{BB962C8B-B14F-4D97-AF65-F5344CB8AC3E}">
        <p14:creationId xmlns:p14="http://schemas.microsoft.com/office/powerpoint/2010/main" val="19530299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0">
            <a:extLst xmlns:a="http://schemas.openxmlformats.org/drawingml/2006/main">
              <a:ext uri="{FF2B5EF4-FFF2-40B4-BE49-F238E27FC236}">
                <a16:creationId xmlns:a16="http://schemas.microsoft.com/office/drawing/2014/main" id="{BBB7C76C-4460-4409-887A-B877C2C3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Ônibus no mapa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1D29BA05-02EF-4825-B9D8-367EA300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Visualização do trajeto e da previsão de chegada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51693CF2-E425-4C80-9B49-A03514FC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B8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799E86D3-3452-4373-B0BD-4C97B92B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23677-D4F1-4448-B903-DC43F5D5D9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1d7ea5c1f44af"/>
          <a:stretch xmlns:a="http://schemas.openxmlformats.org/drawingml/2006/main"/>
        </p:blipFill>
        <p:spPr>
          <a:xfrm xmlns:a="http://schemas.openxmlformats.org/drawingml/2006/main">
            <a:off x="943262" y="2133600"/>
            <a:ext cx="2590226" cy="3848100"/>
          </a:xfrm>
          <a:prstGeom xmlns:a="http://schemas.openxmlformats.org/drawingml/2006/main" prst="rect">
            <a:avLst/>
          </a:prstGeom>
        </p:spPr>
      </p:pic>
      <p:sp>
        <p:nvSpPr>
          <p:cNvPr id="6" name="texto-4">
            <a:extLst xmlns:a="http://schemas.openxmlformats.org/drawingml/2006/main">
              <a:ext uri="{FF2B5EF4-FFF2-40B4-BE49-F238E27FC236}">
                <a16:creationId xmlns:a16="http://schemas.microsoft.com/office/drawing/2014/main" id="{DD6DCCB6-0C78-4D64-B5FE-72491114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Informações principais</a:t>
            </a:r>
          </a:p>
        </p:txBody>
      </p:sp>
      <p:sp>
        <p:nvSpPr>
          <p:cNvPr id="7" name="texto-5">
            <a:extLst xmlns:a="http://schemas.openxmlformats.org/drawingml/2006/main">
              <a:ext uri="{FF2B5EF4-FFF2-40B4-BE49-F238E27FC236}">
                <a16:creationId xmlns:a16="http://schemas.microsoft.com/office/drawing/2014/main" id="{8A9699A0-CD2B-47FC-A61A-171FCA51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Posição do veículo, percurso da linha e estimativa de chegada ao ponto.</a:t>
            </a:r>
          </a:p>
        </p:txBody>
      </p:sp>
      <p:sp>
        <p:nvSpPr>
          <p:cNvPr id="8" name="texto-6">
            <a:extLst xmlns:a="http://schemas.openxmlformats.org/drawingml/2006/main">
              <a:ext uri="{FF2B5EF4-FFF2-40B4-BE49-F238E27FC236}">
                <a16:creationId xmlns:a16="http://schemas.microsoft.com/office/drawing/2014/main" id="{6DC975BE-1C61-4A3E-B3D6-D2355844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95675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Continuação do fluxo</a:t>
            </a:r>
          </a:p>
        </p:txBody>
      </p:sp>
      <p:sp>
        <p:nvSpPr>
          <p:cNvPr id="9" name="texto-7">
            <a:extLst xmlns:a="http://schemas.openxmlformats.org/drawingml/2006/main">
              <a:ext uri="{FF2B5EF4-FFF2-40B4-BE49-F238E27FC236}">
                <a16:creationId xmlns:a16="http://schemas.microsoft.com/office/drawing/2014/main" id="{E8E5E5F2-C1BF-44B3-B606-827FC6E6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14775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O botão de detalhes abre as informações da linha selecionada.</a:t>
            </a:r>
          </a:p>
        </p:txBody>
      </p:sp>
      <p:sp>
        <p:nvSpPr>
          <p:cNvPr id="10" name="texto-8">
            <a:extLst xmlns:a="http://schemas.openxmlformats.org/drawingml/2006/main">
              <a:ext uri="{FF2B5EF4-FFF2-40B4-BE49-F238E27FC236}">
                <a16:creationId xmlns:a16="http://schemas.microsoft.com/office/drawing/2014/main" id="{DE076689-C5D1-4482-B36A-85348571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8630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Condição para operação real</a:t>
            </a:r>
          </a:p>
        </p:txBody>
      </p:sp>
      <p:sp>
        <p:nvSpPr>
          <p:cNvPr id="11" name="texto-9">
            <a:extLst xmlns:a="http://schemas.openxmlformats.org/drawingml/2006/main">
              <a:ext uri="{FF2B5EF4-FFF2-40B4-BE49-F238E27FC236}">
                <a16:creationId xmlns:a16="http://schemas.microsoft.com/office/drawing/2014/main" id="{4A5C694A-5390-4F58-AD7E-4893928B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0540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Receber posições atualizadas e autorizadas dos veículos.</a:t>
            </a:r>
          </a:p>
        </p:txBody>
      </p:sp>
      <p:sp>
        <p:nvSpPr>
          <p:cNvPr id="12" name="texto-10">
            <a:extLst xmlns:a="http://schemas.openxmlformats.org/drawingml/2006/main">
              <a:ext uri="{FF2B5EF4-FFF2-40B4-BE49-F238E27FC236}">
                <a16:creationId xmlns:a16="http://schemas.microsoft.com/office/drawing/2014/main" id="{3E5054CE-4E6F-4634-B8DC-90501DCA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81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Esboço conceitual. Dados ilustrativos.</a:t>
            </a:r>
          </a:p>
        </p:txBody>
      </p:sp>
    </p:spTree>
    <p:extLst>
      <p:ext uri="{BB962C8B-B14F-4D97-AF65-F5344CB8AC3E}">
        <p14:creationId xmlns:p14="http://schemas.microsoft.com/office/powerpoint/2010/main" val="1771891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0">
            <a:extLst xmlns:a="http://schemas.openxmlformats.org/drawingml/2006/main">
              <a:ext uri="{FF2B5EF4-FFF2-40B4-BE49-F238E27FC236}">
                <a16:creationId xmlns:a16="http://schemas.microsoft.com/office/drawing/2014/main" id="{87E9E430-4CC9-4BB3-9564-6F415B42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Detalhes da linha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BCB09E3E-8025-44AA-B65F-EB599AC4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Informações para decidir e acompanhar o embarque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A3DFA04A-D771-4077-A3A9-EAF0FE6F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B8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E37322D3-02C9-4273-8DE2-8A02FD1E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4F63F-F450-423D-8C66-4953F7ECD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2e71db6c94ec4"/>
          <a:stretch xmlns:a="http://schemas.openxmlformats.org/drawingml/2006/main"/>
        </p:blipFill>
        <p:spPr>
          <a:xfrm xmlns:a="http://schemas.openxmlformats.org/drawingml/2006/main">
            <a:off x="997052" y="2133600"/>
            <a:ext cx="2482645" cy="3848100"/>
          </a:xfrm>
          <a:prstGeom xmlns:a="http://schemas.openxmlformats.org/drawingml/2006/main" prst="rect">
            <a:avLst/>
          </a:prstGeom>
        </p:spPr>
      </p:pic>
      <p:sp>
        <p:nvSpPr>
          <p:cNvPr id="6" name="texto-4">
            <a:extLst xmlns:a="http://schemas.openxmlformats.org/drawingml/2006/main">
              <a:ext uri="{FF2B5EF4-FFF2-40B4-BE49-F238E27FC236}">
                <a16:creationId xmlns:a16="http://schemas.microsoft.com/office/drawing/2014/main" id="{4E524501-A4E2-4267-B8FF-7626A2E0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Linha e itinerário</a:t>
            </a:r>
          </a:p>
        </p:txBody>
      </p:sp>
      <p:sp>
        <p:nvSpPr>
          <p:cNvPr id="7" name="texto-5">
            <a:extLst xmlns:a="http://schemas.openxmlformats.org/drawingml/2006/main">
              <a:ext uri="{FF2B5EF4-FFF2-40B4-BE49-F238E27FC236}">
                <a16:creationId xmlns:a16="http://schemas.microsoft.com/office/drawing/2014/main" id="{AF30FAED-8798-498E-90AA-BC019361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Paradas do percurso e horários ilustrativos ajudam a entender a viagem.</a:t>
            </a:r>
          </a:p>
        </p:txBody>
      </p:sp>
      <p:sp>
        <p:nvSpPr>
          <p:cNvPr id="8" name="texto-6">
            <a:extLst xmlns:a="http://schemas.openxmlformats.org/drawingml/2006/main">
              <a:ext uri="{FF2B5EF4-FFF2-40B4-BE49-F238E27FC236}">
                <a16:creationId xmlns:a16="http://schemas.microsoft.com/office/drawing/2014/main" id="{871340C5-2444-4E57-BF29-0443148C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95675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Ônibus e motorista</a:t>
            </a:r>
          </a:p>
        </p:txBody>
      </p:sp>
      <p:sp>
        <p:nvSpPr>
          <p:cNvPr id="9" name="texto-7">
            <a:extLst xmlns:a="http://schemas.openxmlformats.org/drawingml/2006/main">
              <a:ext uri="{FF2B5EF4-FFF2-40B4-BE49-F238E27FC236}">
                <a16:creationId xmlns:a16="http://schemas.microsoft.com/office/drawing/2014/main" id="{0BC17B92-16BF-4A37-9075-CB116FFB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14775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A proposta exibe identificação do veículo, modelo, motorista e avaliação.</a:t>
            </a:r>
          </a:p>
        </p:txBody>
      </p:sp>
      <p:sp>
        <p:nvSpPr>
          <p:cNvPr id="10" name="texto-8">
            <a:extLst xmlns:a="http://schemas.openxmlformats.org/drawingml/2006/main">
              <a:ext uri="{FF2B5EF4-FFF2-40B4-BE49-F238E27FC236}">
                <a16:creationId xmlns:a16="http://schemas.microsoft.com/office/drawing/2014/main" id="{5782F077-AE61-4632-A522-67CC1F85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8630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Acompanhamento</a:t>
            </a:r>
          </a:p>
        </p:txBody>
      </p:sp>
      <p:sp>
        <p:nvSpPr>
          <p:cNvPr id="11" name="texto-9">
            <a:extLst xmlns:a="http://schemas.openxmlformats.org/drawingml/2006/main">
              <a:ext uri="{FF2B5EF4-FFF2-40B4-BE49-F238E27FC236}">
                <a16:creationId xmlns:a16="http://schemas.microsoft.com/office/drawing/2014/main" id="{57BAC83C-693F-4C39-A9E3-5B31888F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0540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O passageiro pode abrir o fluxo da viagem e consultar relatos de lotação.</a:t>
            </a:r>
          </a:p>
        </p:txBody>
      </p:sp>
      <p:sp>
        <p:nvSpPr>
          <p:cNvPr id="12" name="texto-10">
            <a:extLst xmlns:a="http://schemas.openxmlformats.org/drawingml/2006/main">
              <a:ext uri="{FF2B5EF4-FFF2-40B4-BE49-F238E27FC236}">
                <a16:creationId xmlns:a16="http://schemas.microsoft.com/office/drawing/2014/main" id="{61DA6BDA-D6CE-4A88-8BE1-D62C882C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81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Esboço conceitual. Dados ilustrativos.</a:t>
            </a:r>
          </a:p>
        </p:txBody>
      </p:sp>
    </p:spTree>
    <p:extLst>
      <p:ext uri="{BB962C8B-B14F-4D97-AF65-F5344CB8AC3E}">
        <p14:creationId xmlns:p14="http://schemas.microsoft.com/office/powerpoint/2010/main" val="1485235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0">
            <a:extLst xmlns:a="http://schemas.openxmlformats.org/drawingml/2006/main">
              <a:ext uri="{FF2B5EF4-FFF2-40B4-BE49-F238E27FC236}">
                <a16:creationId xmlns:a16="http://schemas.microsoft.com/office/drawing/2014/main" id="{0AD1FBA6-8DD3-4097-A7BB-C278D61C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Minha viagem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53D93B08-4788-412C-9835-2F6FF6DD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Acompanhamento depois do embarque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0D71C8B5-2FAD-4795-8A77-C0D64560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B8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EB2E05D0-0273-4D8E-BE4A-64C2B184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B777E-83E3-4BA3-AA2A-1488B171E2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594c6ed304eb1"/>
          <a:stretch xmlns:a="http://schemas.openxmlformats.org/drawingml/2006/main"/>
        </p:blipFill>
        <p:spPr>
          <a:xfrm xmlns:a="http://schemas.openxmlformats.org/drawingml/2006/main">
            <a:off x="852330" y="2133600"/>
            <a:ext cx="2772091" cy="3848100"/>
          </a:xfrm>
          <a:prstGeom xmlns:a="http://schemas.openxmlformats.org/drawingml/2006/main" prst="rect">
            <a:avLst/>
          </a:prstGeom>
        </p:spPr>
      </p:pic>
      <p:sp>
        <p:nvSpPr>
          <p:cNvPr id="6" name="texto-4">
            <a:extLst xmlns:a="http://schemas.openxmlformats.org/drawingml/2006/main">
              <a:ext uri="{FF2B5EF4-FFF2-40B4-BE49-F238E27FC236}">
                <a16:creationId xmlns:a16="http://schemas.microsoft.com/office/drawing/2014/main" id="{6B1B9E54-E889-49DB-A640-26F9D70B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Destino e tempo restante</a:t>
            </a:r>
          </a:p>
        </p:txBody>
      </p:sp>
      <p:sp>
        <p:nvSpPr>
          <p:cNvPr id="7" name="texto-5">
            <a:extLst xmlns:a="http://schemas.openxmlformats.org/drawingml/2006/main">
              <a:ext uri="{FF2B5EF4-FFF2-40B4-BE49-F238E27FC236}">
                <a16:creationId xmlns:a16="http://schemas.microsoft.com/office/drawing/2014/main" id="{81A4F1F6-FAB0-4E44-AF2A-99917981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A tela destaca o destino selecionado e uma estimativa de chegada.</a:t>
            </a:r>
          </a:p>
        </p:txBody>
      </p:sp>
      <p:sp>
        <p:nvSpPr>
          <p:cNvPr id="8" name="texto-6">
            <a:extLst xmlns:a="http://schemas.openxmlformats.org/drawingml/2006/main">
              <a:ext uri="{FF2B5EF4-FFF2-40B4-BE49-F238E27FC236}">
                <a16:creationId xmlns:a16="http://schemas.microsoft.com/office/drawing/2014/main" id="{15369305-0CDF-4074-BC54-811ED131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95675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Progresso do trajeto</a:t>
            </a:r>
          </a:p>
        </p:txBody>
      </p:sp>
      <p:sp>
        <p:nvSpPr>
          <p:cNvPr id="9" name="texto-7">
            <a:extLst xmlns:a="http://schemas.openxmlformats.org/drawingml/2006/main">
              <a:ext uri="{FF2B5EF4-FFF2-40B4-BE49-F238E27FC236}">
                <a16:creationId xmlns:a16="http://schemas.microsoft.com/office/drawing/2014/main" id="{977D5FFA-E047-46DB-B4B3-34912345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14775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O passageiro consulta as paradas restantes e a posição no mapa.</a:t>
            </a:r>
          </a:p>
        </p:txBody>
      </p:sp>
      <p:sp>
        <p:nvSpPr>
          <p:cNvPr id="10" name="texto-8">
            <a:extLst xmlns:a="http://schemas.openxmlformats.org/drawingml/2006/main">
              <a:ext uri="{FF2B5EF4-FFF2-40B4-BE49-F238E27FC236}">
                <a16:creationId xmlns:a16="http://schemas.microsoft.com/office/drawing/2014/main" id="{E5DD4864-5C09-4453-9E21-B57BAD7C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8630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Ações previstas</a:t>
            </a:r>
          </a:p>
        </p:txBody>
      </p:sp>
      <p:sp>
        <p:nvSpPr>
          <p:cNvPr id="11" name="texto-9">
            <a:extLst xmlns:a="http://schemas.openxmlformats.org/drawingml/2006/main">
              <a:ext uri="{FF2B5EF4-FFF2-40B4-BE49-F238E27FC236}">
                <a16:creationId xmlns:a16="http://schemas.microsoft.com/office/drawing/2014/main" id="{E78FEA80-A3D5-43FC-B841-D4CCB791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0540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Solicitar aviso ao chegar e encerrar o acompanhamento.</a:t>
            </a:r>
          </a:p>
        </p:txBody>
      </p:sp>
      <p:sp>
        <p:nvSpPr>
          <p:cNvPr id="12" name="texto-10">
            <a:extLst xmlns:a="http://schemas.openxmlformats.org/drawingml/2006/main">
              <a:ext uri="{FF2B5EF4-FFF2-40B4-BE49-F238E27FC236}">
                <a16:creationId xmlns:a16="http://schemas.microsoft.com/office/drawing/2014/main" id="{81826F31-3DC2-43E6-A994-5AD2034E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81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Esboço conceitual. Dados ilustrativos.</a:t>
            </a:r>
          </a:p>
        </p:txBody>
      </p:sp>
    </p:spTree>
    <p:extLst>
      <p:ext uri="{BB962C8B-B14F-4D97-AF65-F5344CB8AC3E}">
        <p14:creationId xmlns:p14="http://schemas.microsoft.com/office/powerpoint/2010/main" val="2384570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0">
            <a:extLst xmlns:a="http://schemas.openxmlformats.org/drawingml/2006/main">
              <a:ext uri="{FF2B5EF4-FFF2-40B4-BE49-F238E27FC236}">
                <a16:creationId xmlns:a16="http://schemas.microsoft.com/office/drawing/2014/main" id="{BD60EFBD-F734-4F9A-8E62-546F6CE0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Recarga de passe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648768B8-2E44-4D3F-A9BB-C13E74B9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Carteira demonstrativa e proposta de compra de créditos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461D7F60-A0B2-4B53-9C1B-731242BD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B8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1631B6D2-116E-4610-AC50-72362B62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1EED7-B767-400A-85A2-88231742FB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69bd62e3a4634"/>
          <a:stretch xmlns:a="http://schemas.openxmlformats.org/drawingml/2006/main"/>
        </p:blipFill>
        <p:spPr>
          <a:xfrm xmlns:a="http://schemas.openxmlformats.org/drawingml/2006/main">
            <a:off x="852330" y="2133600"/>
            <a:ext cx="2772091" cy="3848100"/>
          </a:xfrm>
          <a:prstGeom xmlns:a="http://schemas.openxmlformats.org/drawingml/2006/main" prst="rect">
            <a:avLst/>
          </a:prstGeom>
        </p:spPr>
      </p:pic>
      <p:sp>
        <p:nvSpPr>
          <p:cNvPr id="6" name="texto-4">
            <a:extLst xmlns:a="http://schemas.openxmlformats.org/drawingml/2006/main">
              <a:ext uri="{FF2B5EF4-FFF2-40B4-BE49-F238E27FC236}">
                <a16:creationId xmlns:a16="http://schemas.microsoft.com/office/drawing/2014/main" id="{C22E03CD-B81C-4280-8604-846C21B6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Consulta da carteira</a:t>
            </a:r>
          </a:p>
        </p:txBody>
      </p:sp>
      <p:sp>
        <p:nvSpPr>
          <p:cNvPr id="7" name="texto-5">
            <a:extLst xmlns:a="http://schemas.openxmlformats.org/drawingml/2006/main">
              <a:ext uri="{FF2B5EF4-FFF2-40B4-BE49-F238E27FC236}">
                <a16:creationId xmlns:a16="http://schemas.microsoft.com/office/drawing/2014/main" id="{2CFC8310-60EC-47ED-B6FD-27A785FB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Saldo e histórico organizam a visualização dos créditos.</a:t>
            </a:r>
          </a:p>
        </p:txBody>
      </p:sp>
      <p:sp>
        <p:nvSpPr>
          <p:cNvPr id="8" name="texto-6">
            <a:extLst xmlns:a="http://schemas.openxmlformats.org/drawingml/2006/main">
              <a:ext uri="{FF2B5EF4-FFF2-40B4-BE49-F238E27FC236}">
                <a16:creationId xmlns:a16="http://schemas.microsoft.com/office/drawing/2014/main" id="{DC2E47A7-8FCC-4CFD-8C94-63C9955A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95675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Fluxo de recarga</a:t>
            </a:r>
          </a:p>
        </p:txBody>
      </p:sp>
      <p:sp>
        <p:nvSpPr>
          <p:cNvPr id="9" name="texto-7">
            <a:extLst xmlns:a="http://schemas.openxmlformats.org/drawingml/2006/main">
              <a:ext uri="{FF2B5EF4-FFF2-40B4-BE49-F238E27FC236}">
                <a16:creationId xmlns:a16="http://schemas.microsoft.com/office/drawing/2014/main" id="{48C3C6B1-DE55-4422-9B37-A1602FDD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14775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Selecionar a quantidade de passes e a forma de pagamento.</a:t>
            </a:r>
          </a:p>
        </p:txBody>
      </p:sp>
      <p:sp>
        <p:nvSpPr>
          <p:cNvPr id="10" name="texto-8">
            <a:extLst xmlns:a="http://schemas.openxmlformats.org/drawingml/2006/main">
              <a:ext uri="{FF2B5EF4-FFF2-40B4-BE49-F238E27FC236}">
                <a16:creationId xmlns:a16="http://schemas.microsoft.com/office/drawing/2014/main" id="{4AABEBFB-7175-432D-A2AF-40663EF4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8630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Integração necessária</a:t>
            </a:r>
          </a:p>
        </p:txBody>
      </p:sp>
      <p:sp>
        <p:nvSpPr>
          <p:cNvPr id="11" name="texto-9">
            <a:extLst xmlns:a="http://schemas.openxmlformats.org/drawingml/2006/main">
              <a:ext uri="{FF2B5EF4-FFF2-40B4-BE49-F238E27FC236}">
                <a16:creationId xmlns:a16="http://schemas.microsoft.com/office/drawing/2014/main" id="{6D25859C-FFB5-49AD-857D-BE6EC99B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0540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Pagamento, crédito e uso real dependem da bilhetagem oficial.</a:t>
            </a:r>
          </a:p>
        </p:txBody>
      </p:sp>
      <p:sp>
        <p:nvSpPr>
          <p:cNvPr id="12" name="texto-10">
            <a:extLst xmlns:a="http://schemas.openxmlformats.org/drawingml/2006/main">
              <a:ext uri="{FF2B5EF4-FFF2-40B4-BE49-F238E27FC236}">
                <a16:creationId xmlns:a16="http://schemas.microsoft.com/office/drawing/2014/main" id="{E06263A2-5745-4A8E-B7B1-5A88F53B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81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Esboço conceitual. Dados ilustrativos.</a:t>
            </a:r>
          </a:p>
        </p:txBody>
      </p:sp>
    </p:spTree>
    <p:extLst>
      <p:ext uri="{BB962C8B-B14F-4D97-AF65-F5344CB8AC3E}">
        <p14:creationId xmlns:p14="http://schemas.microsoft.com/office/powerpoint/2010/main" val="9765587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0">
            <a:extLst xmlns:a="http://schemas.openxmlformats.org/drawingml/2006/main">
              <a:ext uri="{FF2B5EF4-FFF2-40B4-BE49-F238E27FC236}">
                <a16:creationId xmlns:a16="http://schemas.microsoft.com/office/drawing/2014/main" id="{332E8440-2607-42BA-98FC-DAF7CE7D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Avaliar a viagem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B5DE7089-FA77-479D-864B-88E792DF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Participação do passageiro na experiência da linha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07FC01EA-952E-424A-A405-6130F5FB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B8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E42D19D2-4E9B-4749-8A2F-177BAC07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7C087-A698-41AC-9407-1E4060C510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903683fd84717"/>
          <a:stretch xmlns:a="http://schemas.openxmlformats.org/drawingml/2006/main"/>
        </p:blipFill>
        <p:spPr>
          <a:xfrm xmlns:a="http://schemas.openxmlformats.org/drawingml/2006/main">
            <a:off x="811295" y="2133600"/>
            <a:ext cx="2854159" cy="3848100"/>
          </a:xfrm>
          <a:prstGeom xmlns:a="http://schemas.openxmlformats.org/drawingml/2006/main" prst="rect">
            <a:avLst/>
          </a:prstGeom>
        </p:spPr>
      </p:pic>
      <p:sp>
        <p:nvSpPr>
          <p:cNvPr id="6" name="texto-4">
            <a:extLst xmlns:a="http://schemas.openxmlformats.org/drawingml/2006/main">
              <a:ext uri="{FF2B5EF4-FFF2-40B4-BE49-F238E27FC236}">
                <a16:creationId xmlns:a16="http://schemas.microsoft.com/office/drawing/2014/main" id="{09019EE3-5C60-4FE9-ADD4-B2541033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Avaliação da experiência</a:t>
            </a:r>
          </a:p>
        </p:txBody>
      </p:sp>
      <p:sp>
        <p:nvSpPr>
          <p:cNvPr id="7" name="texto-5">
            <a:extLst xmlns:a="http://schemas.openxmlformats.org/drawingml/2006/main">
              <a:ext uri="{FF2B5EF4-FFF2-40B4-BE49-F238E27FC236}">
                <a16:creationId xmlns:a16="http://schemas.microsoft.com/office/drawing/2014/main" id="{C0198622-479D-40C8-876D-1C92FD43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O usuário escolhe uma nota e pode escrever um comentário.</a:t>
            </a:r>
          </a:p>
        </p:txBody>
      </p:sp>
      <p:sp>
        <p:nvSpPr>
          <p:cNvPr id="8" name="texto-6">
            <a:extLst xmlns:a="http://schemas.openxmlformats.org/drawingml/2006/main">
              <a:ext uri="{FF2B5EF4-FFF2-40B4-BE49-F238E27FC236}">
                <a16:creationId xmlns:a16="http://schemas.microsoft.com/office/drawing/2014/main" id="{88C3F38B-A5BF-4233-BDB5-412E73A3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95675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Relato de lotação</a:t>
            </a:r>
          </a:p>
        </p:txBody>
      </p:sp>
      <p:sp>
        <p:nvSpPr>
          <p:cNvPr id="9" name="texto-7">
            <a:extLst xmlns:a="http://schemas.openxmlformats.org/drawingml/2006/main">
              <a:ext uri="{FF2B5EF4-FFF2-40B4-BE49-F238E27FC236}">
                <a16:creationId xmlns:a16="http://schemas.microsoft.com/office/drawing/2014/main" id="{FDFE87A5-252E-4BCA-A4F3-6EB1C49D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14775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As opções vazio, normal e cheio registram a percepção do passageiro.</a:t>
            </a:r>
          </a:p>
        </p:txBody>
      </p:sp>
      <p:sp>
        <p:nvSpPr>
          <p:cNvPr id="10" name="texto-8">
            <a:extLst xmlns:a="http://schemas.openxmlformats.org/drawingml/2006/main">
              <a:ext uri="{FF2B5EF4-FFF2-40B4-BE49-F238E27FC236}">
                <a16:creationId xmlns:a16="http://schemas.microsoft.com/office/drawing/2014/main" id="{DCD809DF-CAD6-4155-BAA2-44E108C5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8630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Uso das informações</a:t>
            </a:r>
          </a:p>
        </p:txBody>
      </p:sp>
      <p:sp>
        <p:nvSpPr>
          <p:cNvPr id="11" name="texto-9">
            <a:extLst xmlns:a="http://schemas.openxmlformats.org/drawingml/2006/main">
              <a:ext uri="{FF2B5EF4-FFF2-40B4-BE49-F238E27FC236}">
                <a16:creationId xmlns:a16="http://schemas.microsoft.com/office/drawing/2014/main" id="{2A42208D-EA70-4FF7-964D-8B05CFDD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0540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Relatos podem apoiar consultas e futuras análises da linha.</a:t>
            </a:r>
          </a:p>
        </p:txBody>
      </p:sp>
      <p:sp>
        <p:nvSpPr>
          <p:cNvPr id="12" name="texto-10">
            <a:extLst xmlns:a="http://schemas.openxmlformats.org/drawingml/2006/main">
              <a:ext uri="{FF2B5EF4-FFF2-40B4-BE49-F238E27FC236}">
                <a16:creationId xmlns:a16="http://schemas.microsoft.com/office/drawing/2014/main" id="{B11C765F-27A9-4CF2-8BE7-599282C3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81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Esboço conceitual. Dados ilustrativos.</a:t>
            </a:r>
          </a:p>
        </p:txBody>
      </p:sp>
    </p:spTree>
    <p:extLst>
      <p:ext uri="{BB962C8B-B14F-4D97-AF65-F5344CB8AC3E}">
        <p14:creationId xmlns:p14="http://schemas.microsoft.com/office/powerpoint/2010/main" val="1846230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0">
            <a:extLst xmlns:a="http://schemas.openxmlformats.org/drawingml/2006/main">
              <a:ext uri="{FF2B5EF4-FFF2-40B4-BE49-F238E27FC236}">
                <a16:creationId xmlns:a16="http://schemas.microsoft.com/office/drawing/2014/main" id="{8C809ACF-6981-4619-AF49-186E2D54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Área do motorista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5242ECB7-92F1-4B3F-A62C-2B44908D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Identificação da jornada e envio de localização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10C8A7EE-B32F-44F4-982F-6A0B01B2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B8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B5505C8A-FFFE-44BC-B5BD-532E4F7A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929BC-9C0D-47B1-A5CD-6DA0F67399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7c5d12cc44672"/>
          <a:stretch xmlns:a="http://schemas.openxmlformats.org/drawingml/2006/main"/>
        </p:blipFill>
        <p:spPr>
          <a:xfrm xmlns:a="http://schemas.openxmlformats.org/drawingml/2006/main">
            <a:off x="870567" y="2133600"/>
            <a:ext cx="2735616" cy="3848100"/>
          </a:xfrm>
          <a:prstGeom xmlns:a="http://schemas.openxmlformats.org/drawingml/2006/main" prst="rect">
            <a:avLst/>
          </a:prstGeom>
        </p:spPr>
      </p:pic>
      <p:sp>
        <p:nvSpPr>
          <p:cNvPr id="6" name="texto-4">
            <a:extLst xmlns:a="http://schemas.openxmlformats.org/drawingml/2006/main">
              <a:ext uri="{FF2B5EF4-FFF2-40B4-BE49-F238E27FC236}">
                <a16:creationId xmlns:a16="http://schemas.microsoft.com/office/drawing/2014/main" id="{11C66CC9-7BF7-4975-B34B-93D0BC58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Linha e veículo</a:t>
            </a:r>
          </a:p>
        </p:txBody>
      </p:sp>
      <p:sp>
        <p:nvSpPr>
          <p:cNvPr id="7" name="texto-5">
            <a:extLst xmlns:a="http://schemas.openxmlformats.org/drawingml/2006/main">
              <a:ext uri="{FF2B5EF4-FFF2-40B4-BE49-F238E27FC236}">
                <a16:creationId xmlns:a16="http://schemas.microsoft.com/office/drawing/2014/main" id="{EE5D304C-F10B-4407-98F9-C278882B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O perfil do motorista mostra a linha e o ônibus associados à jornada.</a:t>
            </a:r>
          </a:p>
        </p:txBody>
      </p:sp>
      <p:sp>
        <p:nvSpPr>
          <p:cNvPr id="8" name="texto-6">
            <a:extLst xmlns:a="http://schemas.openxmlformats.org/drawingml/2006/main">
              <a:ext uri="{FF2B5EF4-FFF2-40B4-BE49-F238E27FC236}">
                <a16:creationId xmlns:a16="http://schemas.microsoft.com/office/drawing/2014/main" id="{87095468-7F5D-42AC-8F06-E9531084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95675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Controle da viagem</a:t>
            </a:r>
          </a:p>
        </p:txBody>
      </p:sp>
      <p:sp>
        <p:nvSpPr>
          <p:cNvPr id="9" name="texto-7">
            <a:extLst xmlns:a="http://schemas.openxmlformats.org/drawingml/2006/main">
              <a:ext uri="{FF2B5EF4-FFF2-40B4-BE49-F238E27FC236}">
                <a16:creationId xmlns:a16="http://schemas.microsoft.com/office/drawing/2014/main" id="{59A7497C-A08E-4C5A-A6BE-57FFEABC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14775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Iniciar e finalizar a viagem delimitam o período de acompanhamento.</a:t>
            </a:r>
          </a:p>
        </p:txBody>
      </p:sp>
      <p:sp>
        <p:nvSpPr>
          <p:cNvPr id="10" name="texto-8">
            <a:extLst xmlns:a="http://schemas.openxmlformats.org/drawingml/2006/main">
              <a:ext uri="{FF2B5EF4-FFF2-40B4-BE49-F238E27FC236}">
                <a16:creationId xmlns:a16="http://schemas.microsoft.com/office/drawing/2014/main" id="{0C9A0D32-D581-4F7F-9AF8-29EE68D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86300"/>
            <a:ext cx="671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Localização na operação real</a:t>
            </a:r>
          </a:p>
        </p:txBody>
      </p:sp>
      <p:sp>
        <p:nvSpPr>
          <p:cNvPr id="11" name="texto-9">
            <a:extLst xmlns:a="http://schemas.openxmlformats.org/drawingml/2006/main">
              <a:ext uri="{FF2B5EF4-FFF2-40B4-BE49-F238E27FC236}">
                <a16:creationId xmlns:a16="http://schemas.microsoft.com/office/drawing/2014/main" id="{54B8260B-8E40-4B23-AE3F-1CC675D9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05400"/>
            <a:ext cx="661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O sistema deverá tratar permissões de GPS e atualizar as posições.</a:t>
            </a:r>
          </a:p>
        </p:txBody>
      </p:sp>
      <p:sp>
        <p:nvSpPr>
          <p:cNvPr id="12" name="texto-10">
            <a:extLst xmlns:a="http://schemas.openxmlformats.org/drawingml/2006/main">
              <a:ext uri="{FF2B5EF4-FFF2-40B4-BE49-F238E27FC236}">
                <a16:creationId xmlns:a16="http://schemas.microsoft.com/office/drawing/2014/main" id="{AB33947C-9F92-450D-A5D5-82CC048B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81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Esboço conceitual. Dados ilustrativos.</a:t>
            </a:r>
          </a:p>
        </p:txBody>
      </p:sp>
    </p:spTree>
    <p:extLst>
      <p:ext uri="{BB962C8B-B14F-4D97-AF65-F5344CB8AC3E}">
        <p14:creationId xmlns:p14="http://schemas.microsoft.com/office/powerpoint/2010/main" val="7606330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2C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o-0">
            <a:extLst xmlns:a="http://schemas.openxmlformats.org/drawingml/2006/main">
              <a:ext uri="{FF2B5EF4-FFF2-40B4-BE49-F238E27FC236}">
                <a16:creationId xmlns:a16="http://schemas.microsoft.com/office/drawing/2014/main" id="{C195591D-4AC3-47B3-9CC5-C95FCDF9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base técnica do TRANSURBAN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044EFDAD-AE8C-4B1E-93AF-AE7E6666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5E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75E0C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E0CE"/>
                </a:solidFill>
                <a:latin typeface="Arial"/>
                <a:ea typeface="Arial"/>
                <a:cs typeface="Arial"/>
              </a:rPr>
              <a:t>As disciplinas de DS e IA sustentam o desenvolvimento do projeto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DA57E7BE-85EC-4333-A2FD-3D55377C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96B3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96B3C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6B3CB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88D568A5-767C-46E5-9ED9-34D80BFF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6B3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6B3C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6B3C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F918A58B-3E67-48FB-8D4D-9703BD02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5E0CE"/>
                </a:solidFill>
                <a:latin typeface="Arial"/>
                <a:ea typeface="Arial"/>
                <a:cs typeface="Arial"/>
              </a:rPr>
              <a:t>Aplicativo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E3E6881D-0E11-43EE-B1F4-17DC369D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095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Telas e interação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 os usuários.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D3F3B0F5-CFFB-45C2-97A8-AC677859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4792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5E0CE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6886388B-72A6-4497-9227-74341DC9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3095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e FastAPI.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Cadastro, consulta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 validação de dados.</a:t>
            </a:r>
          </a:p>
        </p:txBody>
      </p:sp>
      <p:sp>
        <p:nvSpPr>
          <p:cNvPr id="9" name="texto-8">
            <a:extLst xmlns:a="http://schemas.openxmlformats.org/drawingml/2006/main">
              <a:ext uri="{FF2B5EF4-FFF2-40B4-BE49-F238E27FC236}">
                <a16:creationId xmlns:a16="http://schemas.microsoft.com/office/drawing/2014/main" id="{9ED51304-E795-4D29-88DA-4F6CC19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4792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5E0CE"/>
                </a:solidFill>
                <a:latin typeface="Arial"/>
                <a:ea typeface="Arial"/>
                <a:cs typeface="Arial"/>
              </a:rPr>
              <a:t>Dados</a:t>
            </a:r>
          </a:p>
        </p:txBody>
      </p:sp>
      <p:sp>
        <p:nvSpPr>
          <p:cNvPr id="10" name="texto-9">
            <a:extLst xmlns:a="http://schemas.openxmlformats.org/drawingml/2006/main">
              <a:ext uri="{FF2B5EF4-FFF2-40B4-BE49-F238E27FC236}">
                <a16:creationId xmlns:a16="http://schemas.microsoft.com/office/drawing/2014/main" id="{F15528E2-EBBF-41B6-8BE4-140AC115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3095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Supabase para o banco.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CSV e Pandas para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análise acadêmica.</a:t>
            </a:r>
          </a:p>
        </p:txBody>
      </p:sp>
      <p:sp>
        <p:nvSpPr>
          <p:cNvPr id="11" name="texto-10">
            <a:extLst xmlns:a="http://schemas.openxmlformats.org/drawingml/2006/main">
              <a:ext uri="{FF2B5EF4-FFF2-40B4-BE49-F238E27FC236}">
                <a16:creationId xmlns:a16="http://schemas.microsoft.com/office/drawing/2014/main" id="{E42E2516-7C7F-4356-A24D-62D75348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EE0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EE0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EE0EC"/>
                </a:solidFill>
                <a:latin typeface="Arial"/>
                <a:ea typeface="Arial"/>
                <a:cs typeface="Arial"/>
              </a:rPr>
              <a:t>A integração completa entre as telas e os serviços faz parte da evolução do aplicativo.</a:t>
            </a:r>
          </a:p>
        </p:txBody>
      </p:sp>
    </p:spTree>
    <p:extLst>
      <p:ext uri="{BB962C8B-B14F-4D97-AF65-F5344CB8AC3E}">
        <p14:creationId xmlns:p14="http://schemas.microsoft.com/office/powerpoint/2010/main" val="6732553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o-0">
            <a:extLst xmlns:a="http://schemas.openxmlformats.org/drawingml/2006/main">
              <a:ext uri="{FF2B5EF4-FFF2-40B4-BE49-F238E27FC236}">
                <a16:creationId xmlns:a16="http://schemas.microsoft.com/office/drawing/2014/main" id="{F4194118-3B30-4AF5-B20E-A4EF1128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Banco de dados e análise de atrasos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40EF543E-629C-4515-A18E-2A0B5FD1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Informações organizadas para cadastro e consulta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A3BB3AC5-C377-48CA-9E22-E0361E27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B8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D624B7FB-2BDF-472C-BC62-9D4AE064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6CE19035-0CD0-4CCE-AB6E-F8877998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Modelagem de DS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7FBAC506-E5D2-4646-A821-B23B7069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5000625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Cidade e linha de ônibus.</a:t>
            </a:r>
          </a:p>
          <a:p xmlns:a="http://schemas.openxmlformats.org/drawingml/2006/main">
            <a: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Trechos e vínculos entre linhas e trechos.</a:t>
            </a:r>
          </a:p>
          <a:p xmlns:a="http://schemas.openxmlformats.org/drawingml/2006/main">
            <a: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Faixas exclusivas e registros de atraso.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31FB62CC-71BC-4A74-8B90-5A87D20D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9077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Análise de IA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7A7615DA-C4EB-4C35-9051-C1A352D5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33725"/>
            <a:ext cx="4810125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CSV com tempos programados e reais.</a:t>
            </a:r>
          </a:p>
          <a:p xmlns:a="http://schemas.openxmlformats.org/drawingml/2006/main">
            <a: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Cálculo e comparação de atrasos.</a:t>
            </a:r>
          </a:p>
          <a:p xmlns:a="http://schemas.openxmlformats.org/drawingml/2006/main">
            <a: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Indicadores para consulta pela API.</a:t>
            </a:r>
          </a:p>
        </p:txBody>
      </p:sp>
      <p:sp>
        <p:nvSpPr>
          <p:cNvPr id="9" name="texto-8">
            <a:extLst xmlns:a="http://schemas.openxmlformats.org/drawingml/2006/main">
              <a:ext uri="{FF2B5EF4-FFF2-40B4-BE49-F238E27FC236}">
                <a16:creationId xmlns:a16="http://schemas.microsoft.com/office/drawing/2014/main" id="{6FD8A492-0E25-48F7-9F3A-F5BE2FF3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Exemplo de relacionamento: cada linha referencia uma cidade por chave estrangeira.</a:t>
            </a:r>
          </a:p>
        </p:txBody>
      </p:sp>
    </p:spTree>
    <p:extLst>
      <p:ext uri="{BB962C8B-B14F-4D97-AF65-F5344CB8AC3E}">
        <p14:creationId xmlns:p14="http://schemas.microsoft.com/office/powerpoint/2010/main" val="749242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o-0">
            <a:extLst xmlns:a="http://schemas.openxmlformats.org/drawingml/2006/main">
              <a:ext uri="{FF2B5EF4-FFF2-40B4-BE49-F238E27FC236}">
                <a16:creationId xmlns:a16="http://schemas.microsoft.com/office/drawing/2014/main" id="{7E0D1425-DD35-4B7D-8BA3-DD6A16FA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O estágio de cada entrega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EB09A728-02F1-4897-9B1D-C321C311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A apresentação distingue a base acadêmica, o protótipo e as integrações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7D78BFEC-12E4-4766-B30F-D10A08CB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B8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191B70FF-F65E-4B77-ABA5-7E93F2C4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7962ADB5-B4C4-4DB2-986B-1CD409BD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Base acadêmica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201307B3-1557-4838-997D-32BF5591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66770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Modelagem, backend e análise de atrasos.</a:t>
            </a:r>
          </a:p>
          <a:p xmlns:a="http://schemas.openxmlformats.org/drawingml/2006/main">
            <a: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Demonstração e evidências conforme os testes da equipe.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2D5601B4-0E33-48B0-9329-F61971C0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Protótipo conceitual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8B64861C-6467-48B8-82D2-2A5E5BF4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52825"/>
            <a:ext cx="66770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Oito telas para explicar a experiência.</a:t>
            </a:r>
          </a:p>
          <a:p xmlns:a="http://schemas.openxmlformats.org/drawingml/2006/main">
            <a: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Mapa e carteira com dados demonstrativos.</a:t>
            </a:r>
          </a:p>
        </p:txBody>
      </p:sp>
      <p:sp>
        <p:nvSpPr>
          <p:cNvPr id="9" name="texto-8">
            <a:extLst xmlns:a="http://schemas.openxmlformats.org/drawingml/2006/main">
              <a:ext uri="{FF2B5EF4-FFF2-40B4-BE49-F238E27FC236}">
                <a16:creationId xmlns:a16="http://schemas.microsoft.com/office/drawing/2014/main" id="{407F4A65-4747-4AB4-AF7F-CB60C6EF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Evolução planejada</a:t>
            </a:r>
          </a:p>
        </p:txBody>
      </p:sp>
      <p:sp>
        <p:nvSpPr>
          <p:cNvPr id="10" name="texto-9">
            <a:extLst xmlns:a="http://schemas.openxmlformats.org/drawingml/2006/main">
              <a:ext uri="{FF2B5EF4-FFF2-40B4-BE49-F238E27FC236}">
                <a16:creationId xmlns:a16="http://schemas.microsoft.com/office/drawing/2014/main" id="{4E46AA55-5A25-4ECB-A24B-AA63948E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66770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GPS real, estimativas validadas e recarga oficial.</a:t>
            </a:r>
          </a:p>
          <a:p xmlns:a="http://schemas.openxmlformats.org/drawingml/2006/main">
            <a:pPr>
              <a:defRPr sz="2100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Dependem de integração e testes com operadoras.</a:t>
            </a:r>
          </a:p>
        </p:txBody>
      </p:sp>
    </p:spTree>
    <p:extLst>
      <p:ext uri="{BB962C8B-B14F-4D97-AF65-F5344CB8AC3E}">
        <p14:creationId xmlns:p14="http://schemas.microsoft.com/office/powerpoint/2010/main" val="12595245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-0">
            <a:extLst xmlns:a="http://schemas.openxmlformats.org/drawingml/2006/main">
              <a:ext uri="{FF2B5EF4-FFF2-40B4-BE49-F238E27FC236}">
                <a16:creationId xmlns:a16="http://schemas.microsoft.com/office/drawing/2014/main" id="{2220F514-A7B1-44DE-B08B-3052FDDD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2C5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C50"/>
                </a:solidFill>
                <a:latin typeface="Arial"/>
                <a:ea typeface="Arial"/>
                <a:cs typeface="Arial"/>
              </a:rPr>
              <a:t>Próximas etapas e critérios de validação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A42360B0-4641-4FBC-B628-AC08C45E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O avanço depende de testes e dados confiáveis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292DCCEE-E52E-4B4E-ADA3-BF7EA920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B80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4E076F40-CF21-41F5-9EEA-77F98F48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642C4D56-5C17-4E34-8035-7F2E4899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14575"/>
            <a:ext cx="4000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Conectar as telas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663E0A86-7051-46CB-B256-E69DE569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14575"/>
            <a:ext cx="6515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Validar busca de linha, detalhes e acompanhamento da viagem.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BEF66815-B113-43CA-AC49-88771065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4000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Testar com usuários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CB99AC95-29C9-4DA5-853C-B6310692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28975"/>
            <a:ext cx="6515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Observar conclusão das tarefas e dificuldades na navegação.</a:t>
            </a:r>
          </a:p>
        </p:txBody>
      </p:sp>
      <p:sp>
        <p:nvSpPr>
          <p:cNvPr id="9" name="texto-8">
            <a:extLst xmlns:a="http://schemas.openxmlformats.org/drawingml/2006/main">
              <a:ext uri="{FF2B5EF4-FFF2-40B4-BE49-F238E27FC236}">
                <a16:creationId xmlns:a16="http://schemas.microsoft.com/office/drawing/2014/main" id="{F3902219-67FA-443C-92F2-CC7A467A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Integrar localização</a:t>
            </a:r>
          </a:p>
        </p:txBody>
      </p:sp>
      <p:sp>
        <p:nvSpPr>
          <p:cNvPr id="10" name="texto-9">
            <a:extLst xmlns:a="http://schemas.openxmlformats.org/drawingml/2006/main">
              <a:ext uri="{FF2B5EF4-FFF2-40B4-BE49-F238E27FC236}">
                <a16:creationId xmlns:a16="http://schemas.microsoft.com/office/drawing/2014/main" id="{DBDC5625-B5B7-4109-B778-61B01DAD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43375"/>
            <a:ext cx="6515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Medir atualização das posições e erro das estimativas em minutos.</a:t>
            </a:r>
          </a:p>
        </p:txBody>
      </p:sp>
      <p:sp>
        <p:nvSpPr>
          <p:cNvPr id="11" name="texto-10">
            <a:extLst xmlns:a="http://schemas.openxmlformats.org/drawingml/2006/main">
              <a:ext uri="{FF2B5EF4-FFF2-40B4-BE49-F238E27FC236}">
                <a16:creationId xmlns:a16="http://schemas.microsoft.com/office/drawing/2014/main" id="{51FB094B-535B-4BF5-99CC-44F9C257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7775"/>
            <a:ext cx="4000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9E8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E87"/>
                </a:solidFill>
                <a:latin typeface="Arial"/>
                <a:ea typeface="Arial"/>
                <a:cs typeface="Arial"/>
              </a:rPr>
              <a:t>Integrar bilhetagem</a:t>
            </a:r>
          </a:p>
        </p:txBody>
      </p:sp>
      <p:sp>
        <p:nvSpPr>
          <p:cNvPr id="12" name="texto-11">
            <a:extLst xmlns:a="http://schemas.openxmlformats.org/drawingml/2006/main">
              <a:ext uri="{FF2B5EF4-FFF2-40B4-BE49-F238E27FC236}">
                <a16:creationId xmlns:a16="http://schemas.microsoft.com/office/drawing/2014/main" id="{B77E29CF-F014-4E07-9754-4902198F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57775"/>
            <a:ext cx="6515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5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550"/>
                </a:solidFill>
                <a:latin typeface="Arial"/>
                <a:ea typeface="Arial"/>
                <a:cs typeface="Arial"/>
              </a:rPr>
              <a:t>Verificar pagamento, crédito e histórico junto ao operador.</a:t>
            </a:r>
          </a:p>
        </p:txBody>
      </p:sp>
    </p:spTree>
    <p:extLst>
      <p:ext uri="{BB962C8B-B14F-4D97-AF65-F5344CB8AC3E}">
        <p14:creationId xmlns:p14="http://schemas.microsoft.com/office/powerpoint/2010/main" val="6189398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2C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o-0">
            <a:extLst xmlns:a="http://schemas.openxmlformats.org/drawingml/2006/main">
              <a:ext uri="{FF2B5EF4-FFF2-40B4-BE49-F238E27FC236}">
                <a16:creationId xmlns:a16="http://schemas.microsoft.com/office/drawing/2014/main" id="{14A801FE-4D43-42FD-B07D-1269C0EA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Equipe e propósito do projeto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E205EAA3-278B-480E-9A91-A212569D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5E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75E0C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E0CE"/>
                </a:solidFill>
                <a:latin typeface="Arial"/>
                <a:ea typeface="Arial"/>
                <a:cs typeface="Arial"/>
              </a:rPr>
              <a:t>CEEP Maringá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5F39DC86-D02B-4710-A55E-024606E8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96B3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96B3C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6B3CB"/>
                </a:solidFill>
                <a:latin typeface="Arial"/>
                <a:ea typeface="Arial"/>
                <a:cs typeface="Arial"/>
              </a:rPr>
              <a:t>TRANSURBAN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9A8F3759-D536-4D41-85BA-EF486C0E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6B3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6B3C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6B3C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102BDAA8-36EE-4688-B60C-5E9A3F43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604837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Facilitar o planejamento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o acompanhamento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 viagem de ônibus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9F62BC48-7437-46F6-8F1B-12D47B47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E0CE"/>
                </a:solidFill>
                <a:latin typeface="Arial"/>
                <a:ea typeface="Arial"/>
                <a:cs typeface="Arial"/>
              </a:rPr>
              <a:t>Desenvolvimento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4C81EA7D-76CF-4A19-A613-4B65AF33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3700"/>
            <a:ext cx="4095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Kauan Celso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Bruno Miguel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José Henrique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0A7B15B7-2AB9-4EF9-9B30-AC1DAC05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719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5E0C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5E0CE"/>
                </a:solidFill>
                <a:latin typeface="Arial"/>
                <a:ea typeface="Arial"/>
                <a:cs typeface="Arial"/>
              </a:rPr>
              <a:t>Participação no evento</a:t>
            </a:r>
          </a:p>
        </p:txBody>
      </p:sp>
      <p:sp>
        <p:nvSpPr>
          <p:cNvPr id="9" name="texto-8">
            <a:extLst xmlns:a="http://schemas.openxmlformats.org/drawingml/2006/main">
              <a:ext uri="{FF2B5EF4-FFF2-40B4-BE49-F238E27FC236}">
                <a16:creationId xmlns:a16="http://schemas.microsoft.com/office/drawing/2014/main" id="{0603A5DD-4008-4290-9313-3A0EE18D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48225"/>
            <a:ext cx="4095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Jullyany: organização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Camila: mídia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Ana Carolina: credenciamento</a:t>
            </a:r>
          </a:p>
        </p:txBody>
      </p:sp>
      <p:sp>
        <p:nvSpPr>
          <p:cNvPr id="10" name="texto-9">
            <a:extLst xmlns:a="http://schemas.openxmlformats.org/drawingml/2006/main">
              <a:ext uri="{FF2B5EF4-FFF2-40B4-BE49-F238E27FC236}">
                <a16:creationId xmlns:a16="http://schemas.microsoft.com/office/drawing/2014/main" id="{8FCD7530-41C6-4FB7-980D-B759F9EA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EE0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EE0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EE0EC"/>
                </a:solidFill>
                <a:latin typeface="Arial"/>
                <a:ea typeface="Arial"/>
                <a:cs typeface="Arial"/>
              </a:rPr>
              <a:t>Professor orientador</a:t>
            </a:r>
          </a:p>
          <a:p xmlns:a="http://schemas.openxmlformats.org/drawingml/2006/main">
            <a:pPr>
              <a:defRPr sz="1875" b="0">
                <a:solidFill>
                  <a:srgbClr val="CEE0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EE0EC"/>
                </a:solidFill>
                <a:latin typeface="Arial"/>
                <a:ea typeface="Arial"/>
                <a:cs typeface="Arial"/>
              </a:rPr>
              <a:t>Giuliano Alencar</a:t>
            </a:r>
          </a:p>
        </p:txBody>
      </p:sp>
    </p:spTree>
    <p:extLst>
      <p:ext uri="{BB962C8B-B14F-4D97-AF65-F5344CB8AC3E}">
        <p14:creationId xmlns:p14="http://schemas.microsoft.com/office/powerpoint/2010/main" val="783721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2026-10-14T12:13:08.5800000Z</dcterms:created>
  <dcterms:modified xsi:type="dcterms:W3CDTF">2026-10-14T12:13:08.5800000Z</dcterms:modified>
</coreProperties>
</file>